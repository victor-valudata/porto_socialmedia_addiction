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3" r:id="rId1"/>
  </p:sldMasterIdLst>
  <p:notesMasterIdLst>
    <p:notesMasterId r:id="rId18"/>
  </p:notesMasterIdLst>
  <p:sldIdLst>
    <p:sldId id="257" r:id="rId2"/>
    <p:sldId id="258" r:id="rId3"/>
    <p:sldId id="261" r:id="rId4"/>
    <p:sldId id="262" r:id="rId5"/>
    <p:sldId id="275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4" r:id="rId15"/>
    <p:sldId id="273" r:id="rId16"/>
    <p:sldId id="26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677"/>
  </p:normalViewPr>
  <p:slideViewPr>
    <p:cSldViewPr snapToGrid="0">
      <p:cViewPr varScale="1">
        <p:scale>
          <a:sx n="88" d="100"/>
          <a:sy n="88" d="100"/>
        </p:scale>
        <p:origin x="176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549085-1825-D64E-9834-834432FAC688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F147B-7E12-3946-ABF7-E51A2DD4A8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027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F147B-7E12-3946-ABF7-E51A2DD4A89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9217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A180A8E-4668-486A-95D0-DBD6BDD7C4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BB8E81-5147-5506-5F4B-DBC0E7AF2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6200" y="637890"/>
            <a:ext cx="0" cy="557241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4852B95-CFB8-EEBE-3973-7363B3611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96332" y="768924"/>
            <a:ext cx="0" cy="4800600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1A205B3-F30A-B2B0-2AFF-593443D327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503863" y="1354138"/>
            <a:ext cx="5322887" cy="448151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831992"/>
            <a:ext cx="5897880" cy="4258956"/>
          </a:xfrm>
          <a:solidFill>
            <a:schemeClr val="bg2"/>
          </a:solidFill>
        </p:spPr>
        <p:txBody>
          <a:bodyPr lIns="182880" rIns="228600" bIns="91440" anchor="b">
            <a:normAutofit/>
          </a:bodyPr>
          <a:lstStyle>
            <a:lvl1pPr algn="r">
              <a:lnSpc>
                <a:spcPct val="80000"/>
              </a:lnSpc>
              <a:defRPr sz="72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5431" y="5372809"/>
            <a:ext cx="2364946" cy="909119"/>
          </a:xfrm>
          <a:solidFill>
            <a:schemeClr val="bg2"/>
          </a:solidFill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lang="en-US" sz="1600" cap="all" baseline="0" dirty="0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547529" y="612251"/>
            <a:ext cx="2070397" cy="518965"/>
          </a:xfrm>
          <a:solidFill>
            <a:schemeClr val="bg2"/>
          </a:solidFill>
        </p:spPr>
        <p:txBody>
          <a:bodyPr anchor="t"/>
          <a:lstStyle>
            <a:lvl1pPr algn="r">
              <a:defRPr sz="1050"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897326" y="5229935"/>
            <a:ext cx="1223795" cy="365125"/>
          </a:xfrm>
          <a:solidFill>
            <a:schemeClr val="bg2"/>
          </a:solidFill>
        </p:spPr>
        <p:txBody>
          <a:bodyPr rIns="182880"/>
          <a:lstStyle/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D55B4-EFB5-E5DE-2242-A16C643CA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400" y="6029866"/>
            <a:ext cx="461438" cy="365125"/>
          </a:xfrm>
          <a:solidFill>
            <a:schemeClr val="bg2"/>
          </a:solidFill>
        </p:spPr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58798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2986" y="265728"/>
            <a:ext cx="10981137" cy="1325563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2986" y="1736176"/>
            <a:ext cx="10981137" cy="4198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B6F81-747A-40C6-B81B-62F051B20082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995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C4281C-DEF6-4D7C-EC36-131C16834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7AE09E-7342-F8D6-76B9-3191D2C21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895" y="1090397"/>
            <a:ext cx="0" cy="4396003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D120947-D69A-84F3-7617-0239E8E5C7F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791" y="1371600"/>
            <a:ext cx="6706392" cy="54864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3850" y="685799"/>
            <a:ext cx="6373670" cy="2743201"/>
          </a:xfrm>
          <a:solidFill>
            <a:schemeClr val="bg2"/>
          </a:solidFill>
        </p:spPr>
        <p:txBody>
          <a:bodyPr vert="horz" lIns="182880" tIns="45720" rIns="91440" bIns="91440" rtlCol="0" anchor="b">
            <a:normAutofit/>
          </a:bodyPr>
          <a:lstStyle>
            <a:lvl1pPr>
              <a:lnSpc>
                <a:spcPct val="80000"/>
              </a:lnSpc>
              <a:defRPr lang="en-US" sz="680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00457" y="5570290"/>
            <a:ext cx="4114799" cy="699518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cap="all" baseline="0" dirty="0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5FE83-3A40-27CC-D68D-E889297B8CA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45716" y="508084"/>
            <a:ext cx="429372" cy="365125"/>
          </a:xfrm>
          <a:noFill/>
        </p:spPr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3663" y="508084"/>
            <a:ext cx="1203320" cy="365125"/>
          </a:xfrm>
          <a:solidFill>
            <a:schemeClr val="bg2"/>
          </a:solidFill>
        </p:spPr>
        <p:txBody>
          <a:bodyPr/>
          <a:lstStyle>
            <a:lvl1pPr algn="l">
              <a:defRPr/>
            </a:lvl1pPr>
          </a:lstStyle>
          <a:p>
            <a:fld id="{DB19E114-DE0F-4D79-972B-16F4D1534B50}" type="datetime1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34603" y="612063"/>
            <a:ext cx="1487296" cy="478334"/>
          </a:xfrm>
          <a:solidFill>
            <a:schemeClr val="bg2"/>
          </a:solidFill>
        </p:spPr>
        <p:txBody>
          <a:bodyPr anchor="t"/>
          <a:lstStyle>
            <a:lvl1pPr algn="r">
              <a:defRPr sz="1050"/>
            </a:lvl1pPr>
          </a:lstStyle>
          <a:p>
            <a:r>
              <a:rPr lang="en-US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729526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C4281C-DEF6-4D7C-EC36-131C16834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7AE09E-7342-F8D6-76B9-3191D2C21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895" y="1033580"/>
            <a:ext cx="0" cy="4800292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9" y="338328"/>
            <a:ext cx="8168640" cy="4462272"/>
          </a:xfrm>
          <a:noFill/>
        </p:spPr>
        <p:txBody>
          <a:bodyPr vert="horz" lIns="91440" tIns="45720" rIns="91440" bIns="137160" rtlCol="0" anchor="t">
            <a:normAutofit/>
          </a:bodyPr>
          <a:lstStyle>
            <a:lvl1pPr>
              <a:lnSpc>
                <a:spcPct val="80000"/>
              </a:lnSpc>
              <a:defRPr lang="en-US" sz="9600" spc="-100" baseline="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34400" y="4754729"/>
            <a:ext cx="3084441" cy="1080302"/>
          </a:xfrm>
          <a:solidFill>
            <a:schemeClr val="bg2"/>
          </a:solidFill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cap="all" spc="100" baseline="0" dirty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4000" y="447579"/>
            <a:ext cx="2477899" cy="586001"/>
          </a:xfrm>
          <a:noFill/>
        </p:spPr>
        <p:txBody>
          <a:bodyPr/>
          <a:lstStyle>
            <a:lvl1pPr algn="r">
              <a:defRPr sz="1050"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/>
          <a:p>
            <a:fld id="{454ACAC3-7932-4379-B917-F7F78C6F24BE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D55B4-EFB5-E5DE-2242-A16C643CA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612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D3069F5-8FDE-3652-E906-3619BF9A5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B286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3E913D-4F8E-6F1A-DB89-A9E5CB7D2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926297" y="6172185"/>
            <a:ext cx="10326757" cy="0"/>
          </a:xfrm>
          <a:prstGeom prst="line">
            <a:avLst/>
          </a:prstGeom>
          <a:ln w="12700">
            <a:solidFill>
              <a:schemeClr val="bg2">
                <a:alpha val="4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15478846-46FB-2BEE-98D6-C903223E25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" y="365760"/>
            <a:ext cx="11534790" cy="5525653"/>
          </a:xfrm>
          <a:noFill/>
        </p:spPr>
        <p:txBody>
          <a:bodyPr anchor="t">
            <a:normAutofit/>
          </a:bodyPr>
          <a:lstStyle>
            <a:lvl1pPr>
              <a:defRPr sz="11500" baseline="0">
                <a:ln>
                  <a:solidFill>
                    <a:schemeClr val="bg1"/>
                  </a:solidFill>
                </a:ln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A8544F-8D58-BFED-5A2B-2F718BA6F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0139D-4890-4E0D-B3FD-098A02AB4A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B9144B-27A2-4831-A05B-9434A462331E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CD1DB-3989-A34F-B5F7-DF66E018C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043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53CEDCC-8645-A5B4-D871-D69061512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1996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A45860-DB3A-9EDB-7B6D-FBF10012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321906" y="685800"/>
            <a:ext cx="10184294" cy="0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C2FAA59-861A-3F3D-3441-F66355408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4403" y="2043904"/>
            <a:ext cx="7467597" cy="481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406175" y="2720396"/>
            <a:ext cx="5645423" cy="2494309"/>
          </a:xfrm>
          <a:solidFill>
            <a:schemeClr val="bg2">
              <a:lumMod val="90000"/>
            </a:schemeClr>
          </a:solidFill>
        </p:spPr>
        <p:txBody>
          <a:bodyPr vert="horz" lIns="91440" tIns="45720" rIns="91440" bIns="137160" rtlCol="0" anchor="t">
            <a:normAutofit/>
          </a:bodyPr>
          <a:lstStyle>
            <a:lvl1pPr>
              <a:defRPr lang="en-US" sz="12000" dirty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6410" y="569843"/>
            <a:ext cx="1470992" cy="541698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algn="l">
              <a:defRPr sz="1050"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198" y="2743202"/>
            <a:ext cx="6096001" cy="3467098"/>
          </a:xfrm>
        </p:spPr>
        <p:txBody>
          <a:bodyPr>
            <a:normAutofit/>
          </a:bodyPr>
          <a:lstStyle>
            <a:lvl1pPr marL="342900" indent="-342900">
              <a:buClr>
                <a:schemeClr val="accent2"/>
              </a:buClr>
              <a:buFont typeface="+mj-lt"/>
              <a:buAutoNum type="arabicPeriod"/>
              <a:defRPr sz="1800"/>
            </a:lvl1pPr>
            <a:lvl2pPr marL="800100" indent="-342900">
              <a:buClr>
                <a:schemeClr val="accent2"/>
              </a:buClr>
              <a:buFont typeface="+mj-lt"/>
              <a:buAutoNum type="arabicPeriod"/>
              <a:defRPr sz="1600"/>
            </a:lvl2pPr>
            <a:lvl3pPr marL="1257300" indent="-342900">
              <a:buClr>
                <a:schemeClr val="accent2"/>
              </a:buClr>
              <a:buFont typeface="+mj-lt"/>
              <a:buAutoNum type="arabicPeriod"/>
              <a:defRPr sz="1400"/>
            </a:lvl3pPr>
            <a:lvl4pPr>
              <a:buClr>
                <a:schemeClr val="accent2"/>
              </a:buClr>
              <a:buFont typeface="+mj-lt"/>
              <a:buAutoNum type="arabicPeriod"/>
              <a:defRPr sz="1200"/>
            </a:lvl4pPr>
            <a:lvl5pPr>
              <a:buClr>
                <a:schemeClr val="accent2"/>
              </a:buCl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00458" y="413627"/>
            <a:ext cx="1256738" cy="545500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7196" y="413627"/>
            <a:ext cx="429372" cy="545500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71822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53CEDCC-8645-A5B4-D871-D69061512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1996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2FAA59-861A-3F3D-3441-F66355408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371603" y="3415504"/>
            <a:ext cx="10820397" cy="34424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A45860-DB3A-9EDB-7B6D-FBF10012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11506200" y="1113182"/>
            <a:ext cx="0" cy="1704012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306" y="182880"/>
            <a:ext cx="7930892" cy="2238587"/>
          </a:xfrm>
          <a:noFill/>
        </p:spPr>
        <p:txBody>
          <a:bodyPr anchor="t">
            <a:normAutofit/>
          </a:bodyPr>
          <a:lstStyle>
            <a:lvl1pPr>
              <a:defRPr sz="12000" spc="-50"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4946" y="3840480"/>
            <a:ext cx="6543924" cy="2536466"/>
          </a:xfrm>
        </p:spPr>
        <p:txBody>
          <a:bodyPr>
            <a:normAutofit/>
          </a:bodyPr>
          <a:lstStyle>
            <a:lvl1pPr marL="342900" indent="-342900">
              <a:buClr>
                <a:schemeClr val="accent2"/>
              </a:buClr>
              <a:buFont typeface="+mj-lt"/>
              <a:buAutoNum type="arabicPeriod"/>
              <a:defRPr sz="1800"/>
            </a:lvl1pPr>
            <a:lvl2pPr marL="800100" indent="-342900">
              <a:buClr>
                <a:schemeClr val="accent2"/>
              </a:buClr>
              <a:buFont typeface="+mj-lt"/>
              <a:buAutoNum type="arabicPeriod"/>
              <a:defRPr sz="1600"/>
            </a:lvl2pPr>
            <a:lvl3pPr marL="1257300" indent="-342900">
              <a:buClr>
                <a:schemeClr val="accent2"/>
              </a:buClr>
              <a:buFont typeface="+mj-lt"/>
              <a:buAutoNum type="arabicPeriod"/>
              <a:defRPr sz="1400"/>
            </a:lvl3pPr>
            <a:lvl4pPr>
              <a:buClr>
                <a:schemeClr val="accent2"/>
              </a:buClr>
              <a:buFont typeface="+mj-lt"/>
              <a:buAutoNum type="arabicPeriod"/>
              <a:defRPr sz="1200"/>
            </a:lvl4pPr>
            <a:lvl5pPr>
              <a:buClr>
                <a:schemeClr val="accent2"/>
              </a:buCl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34611" y="612381"/>
            <a:ext cx="1484228" cy="479352"/>
          </a:xfrm>
          <a:noFill/>
        </p:spPr>
        <p:txBody>
          <a:bodyPr anchor="t"/>
          <a:lstStyle>
            <a:lvl1pPr algn="r">
              <a:defRPr sz="1050"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33512" y="2756699"/>
            <a:ext cx="1256738" cy="423823"/>
          </a:xfrm>
          <a:solidFill>
            <a:schemeClr val="bg2">
              <a:lumMod val="90000"/>
            </a:schemeClr>
          </a:solidFill>
        </p:spPr>
        <p:txBody>
          <a:bodyPr anchor="ctr"/>
          <a:lstStyle>
            <a:lvl1pPr algn="r">
              <a:defRPr/>
            </a:lvl1pPr>
          </a:lstStyle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0544" y="2756699"/>
            <a:ext cx="429372" cy="423823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DA62460-475C-38E7-135D-916B98438D0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63000" y="3415504"/>
            <a:ext cx="3429000" cy="344249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09241972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1" y="2057399"/>
            <a:ext cx="3429000" cy="1868557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0" y="2057401"/>
            <a:ext cx="4648200" cy="2743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9526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1031915"/>
            <a:ext cx="3968496" cy="1494845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020" y="1001865"/>
            <a:ext cx="6416180" cy="46833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7"/>
            <a:ext cx="1179576" cy="365125"/>
          </a:xfrm>
        </p:spPr>
        <p:txBody>
          <a:bodyPr/>
          <a:lstStyle/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6122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1242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38400" y="0"/>
            <a:ext cx="7391400" cy="1207008"/>
          </a:xfrm>
        </p:spPr>
        <p:txBody>
          <a:bodyPr lIns="137160" tIns="137160" bIns="91440"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3800" y="1367622"/>
            <a:ext cx="7929006" cy="44775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B460515-4779-2CA9-5335-1F4AD158B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0" y="6210300"/>
            <a:ext cx="7696200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57601" y="6029868"/>
            <a:ext cx="2024542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06021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54864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3318" y="0"/>
            <a:ext cx="4385481" cy="1796124"/>
          </a:xfrm>
        </p:spPr>
        <p:txBody>
          <a:bodyPr lIns="137160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5056" y="1965281"/>
            <a:ext cx="4859992" cy="37328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23361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99475"/>
            <a:ext cx="3625442" cy="1474692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432" y="2124222"/>
            <a:ext cx="3567404" cy="3488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00601" y="0"/>
            <a:ext cx="73914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8206" y="6029868"/>
            <a:ext cx="429372" cy="365125"/>
          </a:xfrm>
        </p:spPr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142880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30047"/>
            <a:ext cx="4939005" cy="116627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432" y="1746792"/>
            <a:ext cx="5776896" cy="3969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91400" y="0"/>
            <a:ext cx="48006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8206" y="6029868"/>
            <a:ext cx="429372" cy="365125"/>
          </a:xfrm>
        </p:spPr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785952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8486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50456" y="0"/>
            <a:ext cx="4142830" cy="1978681"/>
          </a:xfrm>
        </p:spPr>
        <p:txBody>
          <a:bodyPr lIns="137160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2196" y="2112973"/>
            <a:ext cx="3151090" cy="36782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912" y="6029868"/>
            <a:ext cx="1911096" cy="365125"/>
          </a:xfrm>
          <a:noFill/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51008" y="6029868"/>
            <a:ext cx="890077" cy="365125"/>
          </a:xfrm>
          <a:noFill/>
        </p:spPr>
        <p:txBody>
          <a:bodyPr/>
          <a:lstStyle/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599524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EB1BA68-9980-8CBB-7BAF-A1D760EB21E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12192000" cy="6858000"/>
          </a:xfrm>
          <a:custGeom>
            <a:avLst/>
            <a:gdLst>
              <a:gd name="connsiteX0" fmla="*/ 48006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5562599 h 6858000"/>
              <a:gd name="connsiteX5" fmla="*/ 4800600 w 12192000"/>
              <a:gd name="connsiteY5" fmla="*/ 55625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858000">
                <a:moveTo>
                  <a:pt x="480060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5562599"/>
                </a:lnTo>
                <a:lnTo>
                  <a:pt x="4800600" y="5562599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1001376"/>
            <a:ext cx="3601122" cy="1362458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504" y="2496848"/>
            <a:ext cx="3601122" cy="230375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3504" y="503237"/>
            <a:ext cx="1907799" cy="365125"/>
          </a:xfrm>
          <a:noFill/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3504" y="4800600"/>
            <a:ext cx="1256738" cy="365125"/>
          </a:xfrm>
          <a:noFill/>
        </p:spPr>
        <p:txBody>
          <a:bodyPr/>
          <a:lstStyle>
            <a:lvl1pPr algn="l">
              <a:defRPr/>
            </a:lvl1pPr>
          </a:lstStyle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47641" y="4800600"/>
            <a:ext cx="429372" cy="365125"/>
          </a:xfrm>
          <a:noFill/>
        </p:spPr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955435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673955"/>
            <a:ext cx="3154680" cy="1287913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41148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0" y="4647060"/>
            <a:ext cx="7552114" cy="138280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  <a:noFill/>
        </p:spPr>
        <p:txBody>
          <a:bodyPr/>
          <a:lstStyle/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7542" y="6029868"/>
            <a:ext cx="429372" cy="365125"/>
          </a:xfrm>
          <a:noFill/>
        </p:spPr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381990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5" y="337062"/>
            <a:ext cx="6787898" cy="845931"/>
          </a:xfrm>
        </p:spPr>
        <p:txBody>
          <a:bodyPr tIns="91440" bIns="91440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05468" y="637706"/>
            <a:ext cx="1907799" cy="365125"/>
          </a:xfrm>
        </p:spPr>
        <p:txBody>
          <a:bodyPr anchor="t"/>
          <a:lstStyle>
            <a:lvl1pPr algn="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371600"/>
            <a:ext cx="7391402" cy="54864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66163" y="1266737"/>
            <a:ext cx="2894795" cy="47631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F397562-DA4B-EE6B-8F6C-1CE4F33EB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704" y="1028700"/>
            <a:ext cx="0" cy="480060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9556603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800600" cy="482237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2085" y="4374100"/>
            <a:ext cx="3897905" cy="1380814"/>
          </a:xfrm>
        </p:spPr>
        <p:txBody>
          <a:bodyPr lIns="137160" tIns="137160"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516" y="685800"/>
            <a:ext cx="5430884" cy="5204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2974" y="6029867"/>
            <a:ext cx="1911096" cy="365126"/>
          </a:xfrm>
          <a:solidFill>
            <a:schemeClr val="bg1"/>
          </a:solidFill>
        </p:spPr>
        <p:txBody>
          <a:bodyPr anchor="ctr"/>
          <a:lstStyle>
            <a:lvl1pPr algn="l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  <a:solidFill>
            <a:schemeClr val="bg1"/>
          </a:solidFill>
        </p:spPr>
        <p:txBody>
          <a:bodyPr/>
          <a:lstStyle/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790225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424EAB6-808C-672B-68A5-49764748C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599" y="5149121"/>
            <a:ext cx="6861107" cy="842527"/>
          </a:xfrm>
          <a:noFill/>
        </p:spPr>
        <p:txBody>
          <a:bodyPr anchor="t"/>
          <a:lstStyle>
            <a:lvl1pPr algn="r">
              <a:defRPr b="0" cap="all" baseline="0">
                <a:solidFill>
                  <a:schemeClr val="accent1"/>
                </a:solidFill>
                <a:effectLst/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4196" y="120765"/>
            <a:ext cx="10723000" cy="4260404"/>
          </a:xfrm>
        </p:spPr>
        <p:txBody>
          <a:bodyPr lIns="0" tIns="0" rIns="0" bIns="0" anchor="b">
            <a:normAutofit/>
          </a:bodyPr>
          <a:lstStyle>
            <a:lvl1pPr marL="0" indent="0">
              <a:buNone/>
              <a:defRPr sz="28000" spc="-200" baseline="0">
                <a:solidFill>
                  <a:schemeClr val="accent3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1" y="6029867"/>
            <a:ext cx="2137769" cy="365125"/>
          </a:xfrm>
          <a:noFill/>
        </p:spPr>
        <p:txBody>
          <a:bodyPr/>
          <a:lstStyle>
            <a:lvl1pPr>
              <a:defRPr b="0"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8393CD-94B6-EC8A-E14F-A09689A25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3594" y="675861"/>
            <a:ext cx="0" cy="4184295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1879140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65FCAFD-B73A-5597-B603-55FD5D3AAC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431" y="-785191"/>
            <a:ext cx="10981137" cy="640080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7930" y="1649896"/>
            <a:ext cx="10169921" cy="4949687"/>
          </a:xfrm>
        </p:spPr>
        <p:txBody>
          <a:bodyPr anchor="b">
            <a:norm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200" cap="all" spc="-100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lnSpc>
                <a:spcPct val="80000"/>
              </a:lnSpc>
              <a:buNone/>
              <a:defRPr sz="7200" cap="all" baseline="0">
                <a:solidFill>
                  <a:schemeClr val="bg1"/>
                </a:solidFill>
                <a:latin typeface="+mj-lt"/>
              </a:defRPr>
            </a:lvl2pPr>
            <a:lvl3pPr marL="914400" indent="0">
              <a:lnSpc>
                <a:spcPct val="80000"/>
              </a:lnSpc>
              <a:buNone/>
              <a:defRPr sz="7200" cap="all" baseline="0">
                <a:solidFill>
                  <a:schemeClr val="bg1"/>
                </a:solidFill>
                <a:latin typeface="+mj-lt"/>
              </a:defRPr>
            </a:lvl3pPr>
            <a:lvl4pPr marL="1371600" indent="0">
              <a:lnSpc>
                <a:spcPct val="80000"/>
              </a:lnSpc>
              <a:buNone/>
              <a:defRPr sz="6600" cap="all" baseline="0">
                <a:solidFill>
                  <a:schemeClr val="bg1"/>
                </a:solidFill>
                <a:latin typeface="+mj-lt"/>
              </a:defRPr>
            </a:lvl4pPr>
            <a:lvl5pPr marL="1828800" indent="0">
              <a:lnSpc>
                <a:spcPct val="80000"/>
              </a:lnSpc>
              <a:buNone/>
              <a:defRPr sz="66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C1887E-643E-BB68-F557-E1EAB0A0A6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926297" y="685800"/>
            <a:ext cx="10326757" cy="0"/>
          </a:xfrm>
          <a:prstGeom prst="line">
            <a:avLst/>
          </a:prstGeom>
          <a:ln w="12700">
            <a:solidFill>
              <a:schemeClr val="bg1">
                <a:alpha val="4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1" y="501227"/>
            <a:ext cx="1907799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 b="0" spc="0"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00458" y="501227"/>
            <a:ext cx="1256738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7196" y="501227"/>
            <a:ext cx="429372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934384"/>
      </p:ext>
    </p:extLst>
  </p:cSld>
  <p:clrMapOvr>
    <a:masterClrMapping/>
  </p:clrMapOvr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052C017-FC5C-A7A2-BA15-6C113717C3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999" cy="685800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8D5F78-0179-D9C3-74D3-62CE152FFE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2"/>
            <a:ext cx="8763000" cy="50383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B386FE-4A21-B72A-BB2B-D4FDFDC3E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722427" y="6212437"/>
            <a:ext cx="10808612" cy="0"/>
          </a:xfrm>
          <a:prstGeom prst="line">
            <a:avLst/>
          </a:prstGeom>
          <a:ln w="12700">
            <a:solidFill>
              <a:schemeClr val="accent5">
                <a:alpha val="4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D4813FB1-9165-4DD7-C4C2-EAFC20602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5410203"/>
            <a:ext cx="7543800" cy="372746"/>
          </a:xfrm>
          <a:noFill/>
        </p:spPr>
        <p:txBody>
          <a:bodyPr tIns="91440" bIns="91440" anchor="ctr">
            <a:normAutofit/>
          </a:bodyPr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3504" y="725556"/>
            <a:ext cx="8845296" cy="3656168"/>
          </a:xfrm>
        </p:spPr>
        <p:txBody>
          <a:bodyPr>
            <a:normAutofit/>
          </a:bodyPr>
          <a:lstStyle>
            <a:lvl1pPr marL="228600" indent="-228600">
              <a:lnSpc>
                <a:spcPct val="85000"/>
              </a:lnSpc>
              <a:spcBef>
                <a:spcPts val="0"/>
              </a:spcBef>
              <a:buNone/>
              <a:defRPr sz="5800" b="0" cap="all" spc="0" baseline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4F49A81-8721-B846-5567-52769C04D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0" y="6029868"/>
            <a:ext cx="1911096" cy="365125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B3E54B7-FFB1-7BFC-0189-A17360728C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2368" y="6029868"/>
            <a:ext cx="1435608" cy="365125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1DF2706-0EDF-0D3B-C01B-613E7D1BB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028265"/>
      </p:ext>
    </p:extLst>
  </p:cSld>
  <p:clrMapOvr>
    <a:masterClrMapping/>
  </p:clrMapOvr>
  <p:hf sldNum="0"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50773-1259-8F51-3561-DF3A80B26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521185"/>
            <a:ext cx="10902696" cy="1070849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966CF-BE4B-28C8-6D17-E087E97C0E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5431" y="1756230"/>
            <a:ext cx="5181600" cy="40349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559437-5037-4EE7-88FA-80C5AA0870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4600" y="1756230"/>
            <a:ext cx="5181600" cy="40349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26746-DF44-9DEF-8471-A5E1F6CCC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50B58-64D5-F359-1AC8-3D57AA87B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A22FA-48E7-5BF5-6432-6C7A54D7E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628568"/>
      </p:ext>
    </p:extLst>
  </p:cSld>
  <p:clrMapOvr>
    <a:masterClrMapping/>
  </p:clrMapOvr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D8D87-72DE-A210-5C2D-570A1B01D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521206"/>
            <a:ext cx="10899648" cy="1069848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3932A9-21A4-5A57-9D72-8C46993E6B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631076"/>
            <a:ext cx="5157787" cy="70939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83D4B4-A366-E12D-19BB-C17B71466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5431" y="2372146"/>
            <a:ext cx="5157787" cy="34952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06DAAF-1A05-D83C-70C1-CEADA4EB73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24600" y="1631076"/>
            <a:ext cx="5183188" cy="70939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FE7B13-3453-6313-B416-E9FF9DA2E0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24600" y="2372146"/>
            <a:ext cx="5183188" cy="34952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61BE2D-E1A3-1A5C-AE37-9DC52A971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D5902D-DF04-F2A8-C2F8-EBDD2A897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4FDDA8-940A-B407-4EB2-85DC9BEDB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100543"/>
      </p:ext>
    </p:extLst>
  </p:cSld>
  <p:clrMapOvr>
    <a:masterClrMapping/>
  </p:clrMapOvr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151FC-CD6F-656F-54A8-59B782BEF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265176"/>
            <a:ext cx="11028923" cy="1325880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7D307A-FF1F-38A3-7DE5-F11DC31CA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4C539B-20CB-8D83-0ECC-5F682BD06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95DE8-BB4A-408C-A60C-374B496D02BA}" type="datetime1">
              <a:rPr lang="en-US" smtClean="0"/>
              <a:t>10/13/26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6EB674-912E-381A-49CE-08E49DFF4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32536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FA0B77-3CB1-4071-30F6-B0766D75C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4A81A7-FC7B-1689-D59F-4173A1763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C9DBE-31FF-4D71-B719-92EBAC3193CE}" type="datetime1">
              <a:rPr lang="en-US" smtClean="0"/>
              <a:t>10/13/26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080D98-2C9A-3434-E8A3-DA6CCD2F5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629909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8073289-DB44-2F27-575B-3B0123960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22766A-BE9C-B780-CC66-44ECFC5C0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57400" y="3084659"/>
            <a:ext cx="10133956" cy="3773341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06" y="182881"/>
            <a:ext cx="8616684" cy="1874520"/>
          </a:xfrm>
          <a:noFill/>
        </p:spPr>
        <p:txBody>
          <a:bodyPr anchor="t">
            <a:normAutofit/>
          </a:bodyPr>
          <a:lstStyle>
            <a:lvl1pPr>
              <a:defRPr sz="96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53600" y="617923"/>
            <a:ext cx="1866897" cy="461881"/>
          </a:xfrm>
          <a:noFill/>
        </p:spPr>
        <p:txBody>
          <a:bodyPr anchor="t"/>
          <a:lstStyle>
            <a:lvl1pPr algn="r">
              <a:defRPr sz="900"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5846" y="3544866"/>
            <a:ext cx="8990722" cy="2446782"/>
          </a:xfrm>
        </p:spPr>
        <p:txBody>
          <a:bodyPr>
            <a:normAutofit/>
          </a:bodyPr>
          <a:lstStyle>
            <a:lvl1pPr marL="0" indent="0">
              <a:buClr>
                <a:schemeClr val="tx2"/>
              </a:buClr>
              <a:buFont typeface="Arial" panose="020B0604020202020204" pitchFamily="34" charset="0"/>
              <a:buNone/>
              <a:defRPr sz="1800"/>
            </a:lvl1pPr>
            <a:lvl2pPr marL="457200" indent="0">
              <a:buClr>
                <a:schemeClr val="tx2"/>
              </a:buClr>
              <a:buFont typeface="Arial" panose="020B0604020202020204" pitchFamily="34" charset="0"/>
              <a:buNone/>
              <a:defRPr sz="1600"/>
            </a:lvl2pPr>
            <a:lvl3pPr marL="914400" indent="0">
              <a:buClr>
                <a:schemeClr val="tx2"/>
              </a:buClr>
              <a:buFont typeface="Arial" panose="020B0604020202020204" pitchFamily="34" charset="0"/>
              <a:buNone/>
              <a:defRPr sz="1400"/>
            </a:lvl3pPr>
            <a:lvl4pPr marL="13716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4pPr>
            <a:lvl5pPr marL="18288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95846" y="6024816"/>
            <a:ext cx="1809495" cy="365125"/>
          </a:xfrm>
          <a:solidFill>
            <a:schemeClr val="bg2"/>
          </a:solidFill>
        </p:spPr>
        <p:txBody>
          <a:bodyPr/>
          <a:lstStyle>
            <a:lvl1pPr algn="l">
              <a:defRPr/>
            </a:lvl1pPr>
          </a:lstStyle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bg2"/>
          </a:solidFill>
        </p:spPr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9270"/>
      </p:ext>
    </p:extLst>
  </p:cSld>
  <p:clrMapOvr>
    <a:masterClrMapping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8073289-DB44-2F27-575B-3B0123960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2AC4BE-2FD3-AAF4-8A1B-0633F1BEE3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436077" cy="2057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652D305-42E1-E86E-632C-9DFD4F747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" y="4564627"/>
            <a:ext cx="5068016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625" y="530940"/>
            <a:ext cx="7703576" cy="1308290"/>
          </a:xfrm>
          <a:noFill/>
        </p:spPr>
        <p:txBody>
          <a:bodyPr anchor="t">
            <a:normAutofit/>
          </a:bodyPr>
          <a:lstStyle>
            <a:lvl1pPr>
              <a:defRPr sz="80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7005" y="3571531"/>
            <a:ext cx="5009534" cy="1987694"/>
          </a:xfrm>
        </p:spPr>
        <p:txBody>
          <a:bodyPr anchor="ctr">
            <a:normAutofit/>
          </a:bodyPr>
          <a:lstStyle>
            <a:lvl1pPr marL="0" indent="0">
              <a:buClr>
                <a:schemeClr val="tx2"/>
              </a:buClr>
              <a:buFont typeface="Arial" panose="020B0604020202020204" pitchFamily="34" charset="0"/>
              <a:buNone/>
              <a:defRPr sz="1800"/>
            </a:lvl1pPr>
            <a:lvl2pPr marL="457200" indent="0">
              <a:buClr>
                <a:schemeClr val="tx2"/>
              </a:buClr>
              <a:buFont typeface="Arial" panose="020B0604020202020204" pitchFamily="34" charset="0"/>
              <a:buNone/>
              <a:defRPr sz="1600"/>
            </a:lvl2pPr>
            <a:lvl3pPr marL="914400" indent="0">
              <a:buClr>
                <a:schemeClr val="tx2"/>
              </a:buClr>
              <a:buFont typeface="Arial" panose="020B0604020202020204" pitchFamily="34" charset="0"/>
              <a:buNone/>
              <a:defRPr sz="1400"/>
            </a:lvl3pPr>
            <a:lvl4pPr marL="13716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4pPr>
            <a:lvl5pPr marL="18288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0" y="6029867"/>
            <a:ext cx="1911096" cy="365126"/>
          </a:xfrm>
          <a:noFill/>
        </p:spPr>
        <p:txBody>
          <a:bodyPr anchor="ctr"/>
          <a:lstStyle>
            <a:lvl1pPr algn="l">
              <a:defRPr sz="900" b="1"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99320" y="6029867"/>
            <a:ext cx="1441766" cy="365125"/>
          </a:xfrm>
          <a:noFill/>
        </p:spPr>
        <p:txBody>
          <a:bodyPr/>
          <a:lstStyle>
            <a:lvl1pPr algn="r">
              <a:defRPr/>
            </a:lvl1pPr>
          </a:lstStyle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618968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BAF5C3-82B6-427E-5D2E-900A2D90A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722427" y="6212437"/>
            <a:ext cx="10808612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1AA792-727F-F91C-6564-A882FAF11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351270"/>
            <a:ext cx="10981137" cy="1239720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13716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0A246-77A4-EC4C-28B8-90388BB8E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745956"/>
            <a:ext cx="10981137" cy="3983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F6714-5B6F-439F-4173-D518237123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430" y="6029868"/>
            <a:ext cx="1911096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l">
              <a:defRPr sz="900" b="1" cap="all" spc="6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842E6-B4ED-431B-B1A0-22352BA620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0" y="6029868"/>
            <a:ext cx="1182686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r">
              <a:defRPr sz="900" cap="all" baseline="0">
                <a:solidFill>
                  <a:schemeClr val="tx2"/>
                </a:solidFill>
              </a:defRPr>
            </a:lvl1pPr>
          </a:lstStyle>
          <a:p>
            <a:fld id="{0C9DF407-AAD9-4F9F-B512-267BEB339CF5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743A1-0EE5-84FA-44EE-3CDDB793A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33434" y="6029868"/>
            <a:ext cx="429372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r">
              <a:defRPr sz="900" cap="all" baseline="0">
                <a:solidFill>
                  <a:schemeClr val="tx2"/>
                </a:solidFill>
              </a:defRPr>
            </a:lvl1pPr>
          </a:lstStyle>
          <a:p>
            <a:fld id="{C8116806-1FD2-4A57-B5EA-7014AB763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00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  <p:sldLayoutId id="2147483740" r:id="rId17"/>
    <p:sldLayoutId id="2147483741" r:id="rId18"/>
    <p:sldLayoutId id="2147483742" r:id="rId19"/>
    <p:sldLayoutId id="2147483743" r:id="rId20"/>
    <p:sldLayoutId id="2147483744" r:id="rId21"/>
    <p:sldLayoutId id="2147483745" r:id="rId22"/>
    <p:sldLayoutId id="2147483746" r:id="rId23"/>
    <p:sldLayoutId id="2147483747" r:id="rId24"/>
    <p:sldLayoutId id="2147483748" r:id="rId25"/>
    <p:sldLayoutId id="2147483749" r:id="rId26"/>
    <p:sldLayoutId id="2147483750" r:id="rId27"/>
  </p:sldLayoutIdLst>
  <p:hf sldNum="0" hdr="0" ftr="0" dt="0"/>
  <p:txStyles>
    <p:titleStyle>
      <a:lvl1pPr marL="0" algn="l" defTabSz="914400" rtl="0" eaLnBrk="1" latinLnBrk="0" hangingPunct="1">
        <a:lnSpc>
          <a:spcPct val="100000"/>
        </a:lnSpc>
        <a:spcBef>
          <a:spcPct val="0"/>
        </a:spcBef>
        <a:spcAft>
          <a:spcPts val="0"/>
        </a:spcAft>
        <a:buNone/>
        <a:defRPr sz="2800" kern="1200" cap="all" baseline="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864">
          <p15:clr>
            <a:srgbClr val="F26B43"/>
          </p15:clr>
        </p15:guide>
        <p15:guide id="3" pos="432">
          <p15:clr>
            <a:srgbClr val="F26B43"/>
          </p15:clr>
        </p15:guide>
        <p15:guide id="4" orient="horz" pos="3912">
          <p15:clr>
            <a:srgbClr val="F26B43"/>
          </p15:clr>
        </p15:guide>
        <p15:guide id="5" orient="horz" pos="3504">
          <p15:clr>
            <a:srgbClr val="F26B43"/>
          </p15:clr>
        </p15:guide>
        <p15:guide id="6" orient="horz" pos="3024">
          <p15:clr>
            <a:srgbClr val="F26B43"/>
          </p15:clr>
        </p15:guide>
        <p15:guide id="7" orient="horz" pos="2592">
          <p15:clr>
            <a:srgbClr val="F26B43"/>
          </p15:clr>
        </p15:guide>
        <p15:guide id="8" orient="horz" pos="1728">
          <p15:clr>
            <a:srgbClr val="F26B43"/>
          </p15:clr>
        </p15:guide>
        <p15:guide id="9" orient="horz" pos="1296">
          <p15:clr>
            <a:srgbClr val="F26B43"/>
          </p15:clr>
        </p15:guide>
        <p15:guide id="10" orient="horz" pos="864">
          <p15:clr>
            <a:srgbClr val="F26B43"/>
          </p15:clr>
        </p15:guide>
        <p15:guide id="11" orient="horz" pos="432">
          <p15:clr>
            <a:srgbClr val="F26B43"/>
          </p15:clr>
        </p15:guide>
        <p15:guide id="12" pos="1296">
          <p15:clr>
            <a:srgbClr val="F26B43"/>
          </p15:clr>
        </p15:guide>
        <p15:guide id="13" pos="1728">
          <p15:clr>
            <a:srgbClr val="F26B43"/>
          </p15:clr>
        </p15:guide>
        <p15:guide id="18" pos="2160">
          <p15:clr>
            <a:srgbClr val="F26B43"/>
          </p15:clr>
        </p15:guide>
        <p15:guide id="20" pos="5520">
          <p15:clr>
            <a:srgbClr val="F26B43"/>
          </p15:clr>
        </p15:guide>
        <p15:guide id="21" pos="5952">
          <p15:clr>
            <a:srgbClr val="F26B43"/>
          </p15:clr>
        </p15:guide>
        <p15:guide id="22" pos="6384">
          <p15:clr>
            <a:srgbClr val="F26B43"/>
          </p15:clr>
        </p15:guide>
        <p15:guide id="24" pos="6816">
          <p15:clr>
            <a:srgbClr val="F26B43"/>
          </p15:clr>
        </p15:guide>
        <p15:guide id="25" pos="7248">
          <p15:clr>
            <a:srgbClr val="F26B43"/>
          </p15:clr>
        </p15:guide>
        <p15:guide id="26" pos="5088">
          <p15:clr>
            <a:srgbClr val="F26B43"/>
          </p15:clr>
        </p15:guide>
        <p15:guide id="27" pos="4656">
          <p15:clr>
            <a:srgbClr val="F26B43"/>
          </p15:clr>
        </p15:guide>
        <p15:guide id="28" pos="4224">
          <p15:clr>
            <a:srgbClr val="F26B43"/>
          </p15:clr>
        </p15:guide>
        <p15:guide id="29" pos="2592">
          <p15:clr>
            <a:srgbClr val="F26B43"/>
          </p15:clr>
        </p15:guide>
        <p15:guide id="30" pos="3024">
          <p15:clr>
            <a:srgbClr val="F26B43"/>
          </p15:clr>
        </p15:guide>
        <p15:guide id="31" pos="3456">
          <p15:clr>
            <a:srgbClr val="F26B43"/>
          </p15:clr>
        </p15:guide>
        <p15:guide id="32" orient="horz" pos="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88036-CACC-9285-C4C3-C33251A658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09620" y="685799"/>
            <a:ext cx="6373670" cy="2743201"/>
          </a:xfrm>
        </p:spPr>
        <p:txBody>
          <a:bodyPr/>
          <a:lstStyle/>
          <a:p>
            <a:pPr algn="r"/>
            <a:r>
              <a:rPr lang="en-US" dirty="0"/>
              <a:t>STUDENT SOCIAL MEDIA ADDICTION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994F2F-279A-850D-9B1F-5E604C9B34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Victor </a:t>
            </a:r>
            <a:r>
              <a:rPr lang="en-US" dirty="0" err="1"/>
              <a:t>utomo</a:t>
            </a:r>
            <a:r>
              <a:rPr lang="en-US" dirty="0"/>
              <a:t> – data analyst portfolio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778E80-ECBF-EE36-FA8A-A5969729590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Texturizer scaling="44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2380343"/>
            <a:ext cx="6716485" cy="4477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3335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A98E6-AA3B-5BA0-5222-B2DF58941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Pendahuluan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54D2A-F087-4335-367C-DA032A9456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err="1"/>
              <a:t>Penggunaan</a:t>
            </a:r>
            <a:r>
              <a:rPr lang="en-US" sz="2400" dirty="0"/>
              <a:t> media </a:t>
            </a:r>
            <a:r>
              <a:rPr lang="en-US" sz="2400" dirty="0" err="1"/>
              <a:t>sosial</a:t>
            </a:r>
            <a:r>
              <a:rPr lang="en-US" sz="2400" dirty="0"/>
              <a:t> yang </a:t>
            </a:r>
            <a:r>
              <a:rPr lang="en-US" sz="2400" dirty="0" err="1"/>
              <a:t>tinggi</a:t>
            </a:r>
            <a:endParaRPr lang="en-US" sz="2400" dirty="0"/>
          </a:p>
          <a:p>
            <a:r>
              <a:rPr lang="en-US" sz="2400" dirty="0"/>
              <a:t>Integrasi media </a:t>
            </a:r>
            <a:r>
              <a:rPr lang="en-US" sz="2400" dirty="0" err="1"/>
              <a:t>sosial</a:t>
            </a:r>
            <a:r>
              <a:rPr lang="en-US" sz="2400" dirty="0"/>
              <a:t> </a:t>
            </a:r>
            <a:r>
              <a:rPr lang="en-US" sz="2400" dirty="0" err="1"/>
              <a:t>dalam</a:t>
            </a:r>
            <a:r>
              <a:rPr lang="en-US" sz="2400" dirty="0"/>
              <a:t> </a:t>
            </a:r>
            <a:r>
              <a:rPr lang="en-US" sz="2400" dirty="0" err="1"/>
              <a:t>kehidupan</a:t>
            </a:r>
            <a:r>
              <a:rPr lang="en-US" sz="2400" dirty="0"/>
              <a:t> </a:t>
            </a:r>
            <a:r>
              <a:rPr lang="en-US" sz="2400" dirty="0" err="1"/>
              <a:t>nyata</a:t>
            </a:r>
            <a:endParaRPr lang="en-US" sz="2400" dirty="0"/>
          </a:p>
          <a:p>
            <a:r>
              <a:rPr lang="en-US" sz="2400" dirty="0" err="1"/>
              <a:t>Kecenderungan</a:t>
            </a:r>
            <a:r>
              <a:rPr lang="en-US" sz="2400" dirty="0"/>
              <a:t> media </a:t>
            </a:r>
            <a:r>
              <a:rPr lang="en-US" sz="2400" dirty="0" err="1"/>
              <a:t>sosial</a:t>
            </a:r>
            <a:r>
              <a:rPr lang="en-US" sz="2400" dirty="0"/>
              <a:t> yang </a:t>
            </a:r>
            <a:r>
              <a:rPr lang="en-US" sz="2400" i="1" dirty="0"/>
              <a:t>rewarding </a:t>
            </a:r>
            <a:r>
              <a:rPr lang="en-US" sz="2400" dirty="0" err="1"/>
              <a:t>terhadap</a:t>
            </a:r>
            <a:r>
              <a:rPr lang="en-US" sz="2400" dirty="0"/>
              <a:t> </a:t>
            </a:r>
            <a:r>
              <a:rPr lang="en-US" sz="2400" i="1" dirty="0"/>
              <a:t>screen time </a:t>
            </a:r>
            <a:r>
              <a:rPr lang="en-US" sz="2400" dirty="0"/>
              <a:t>yang </a:t>
            </a:r>
            <a:r>
              <a:rPr lang="en-US" sz="2400" dirty="0" err="1"/>
              <a:t>tinggi</a:t>
            </a:r>
            <a:endParaRPr lang="en-US" sz="2400" dirty="0"/>
          </a:p>
          <a:p>
            <a:r>
              <a:rPr lang="en-US" sz="2400" dirty="0"/>
              <a:t>Risiko yang </a:t>
            </a:r>
            <a:r>
              <a:rPr lang="en-US" sz="2400" dirty="0" err="1"/>
              <a:t>besar</a:t>
            </a:r>
            <a:r>
              <a:rPr lang="en-US" sz="2400" dirty="0"/>
              <a:t> </a:t>
            </a:r>
            <a:r>
              <a:rPr lang="en-US" sz="2400" dirty="0" err="1"/>
              <a:t>bagi</a:t>
            </a:r>
            <a:r>
              <a:rPr lang="en-US" sz="2400" dirty="0"/>
              <a:t> </a:t>
            </a:r>
            <a:r>
              <a:rPr lang="en-US" sz="2400" dirty="0" err="1"/>
              <a:t>pelajar</a:t>
            </a:r>
            <a:r>
              <a:rPr lang="en-US" sz="2400" dirty="0"/>
              <a:t>/</a:t>
            </a:r>
            <a:r>
              <a:rPr lang="en-US" sz="2400" dirty="0" err="1"/>
              <a:t>mahasiswa</a:t>
            </a:r>
            <a:r>
              <a:rPr lang="en-US" sz="2400" dirty="0"/>
              <a:t> </a:t>
            </a:r>
            <a:r>
              <a:rPr lang="en-US" sz="2400" dirty="0" err="1"/>
              <a:t>terhadap</a:t>
            </a:r>
            <a:r>
              <a:rPr lang="en-US" sz="2400" dirty="0"/>
              <a:t> </a:t>
            </a:r>
            <a:r>
              <a:rPr lang="en-US" sz="2400" dirty="0" err="1"/>
              <a:t>kecanduan</a:t>
            </a:r>
            <a:r>
              <a:rPr lang="en-US" sz="2400" dirty="0"/>
              <a:t> media </a:t>
            </a:r>
            <a:r>
              <a:rPr lang="en-US" sz="2400" dirty="0" err="1"/>
              <a:t>sosial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222530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EFB9ED-00CB-5588-F45E-BD976464520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0" y="-1"/>
            <a:ext cx="4822372" cy="4822372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248AC81-D7B2-4EF6-F397-D8F368969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28744-7CEC-D714-4DF7-03CDD112C3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000" dirty="0"/>
              <a:t>Data </a:t>
            </a:r>
            <a:r>
              <a:rPr lang="en-US" sz="2000" dirty="0" err="1"/>
              <a:t>didapat</a:t>
            </a:r>
            <a:r>
              <a:rPr lang="en-US" sz="2000" dirty="0"/>
              <a:t> </a:t>
            </a:r>
            <a:r>
              <a:rPr lang="en-US" sz="2000" dirty="0" err="1"/>
              <a:t>dari</a:t>
            </a:r>
            <a:r>
              <a:rPr lang="en-US" sz="2000" dirty="0"/>
              <a:t> Kaggle </a:t>
            </a:r>
            <a:r>
              <a:rPr lang="en-US" sz="2000" dirty="0" err="1"/>
              <a:t>dari</a:t>
            </a:r>
            <a:r>
              <a:rPr lang="en-US" sz="2000" dirty="0"/>
              <a:t> link </a:t>
            </a:r>
            <a:r>
              <a:rPr lang="en-US" sz="2000" dirty="0" err="1"/>
              <a:t>berikut</a:t>
            </a:r>
            <a:r>
              <a:rPr lang="en-US" sz="2000" dirty="0"/>
              <a:t> https://</a:t>
            </a:r>
            <a:r>
              <a:rPr lang="en-US" sz="2000" dirty="0" err="1"/>
              <a:t>www.kaggle.com</a:t>
            </a:r>
            <a:r>
              <a:rPr lang="en-US" sz="2000" dirty="0"/>
              <a:t>/datasets/</a:t>
            </a:r>
            <a:r>
              <a:rPr lang="en-US" sz="2000" dirty="0" err="1"/>
              <a:t>zahranusratt</a:t>
            </a:r>
            <a:r>
              <a:rPr lang="en-US" sz="2000" dirty="0"/>
              <a:t>/student-social-media-addiction-analysis-dataset/data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Data </a:t>
            </a:r>
            <a:r>
              <a:rPr lang="en-US" sz="2000" dirty="0" err="1"/>
              <a:t>terdiri</a:t>
            </a:r>
            <a:r>
              <a:rPr lang="en-US" sz="2000" dirty="0"/>
              <a:t> </a:t>
            </a:r>
            <a:r>
              <a:rPr lang="en-US" sz="2000" dirty="0" err="1"/>
              <a:t>dari</a:t>
            </a:r>
            <a:r>
              <a:rPr lang="en-US" sz="2000" dirty="0"/>
              <a:t> 705 baris dan 13 </a:t>
            </a:r>
            <a:r>
              <a:rPr lang="en-US" sz="2000" dirty="0" err="1"/>
              <a:t>kolom</a:t>
            </a:r>
            <a:endParaRPr lang="en-US" sz="2000" dirty="0"/>
          </a:p>
          <a:p>
            <a:pPr>
              <a:lnSpc>
                <a:spcPct val="100000"/>
              </a:lnSpc>
            </a:pPr>
            <a:r>
              <a:rPr lang="en-US" sz="2000" dirty="0"/>
              <a:t>Kolom </a:t>
            </a:r>
            <a:r>
              <a:rPr lang="en-US" sz="2000" dirty="0" err="1"/>
              <a:t>tersebut</a:t>
            </a:r>
            <a:r>
              <a:rPr lang="en-US" sz="2000" dirty="0"/>
              <a:t> </a:t>
            </a:r>
            <a:r>
              <a:rPr lang="en-US" sz="2000" dirty="0" err="1"/>
              <a:t>dapat</a:t>
            </a:r>
            <a:r>
              <a:rPr lang="en-US" sz="2000" dirty="0"/>
              <a:t> </a:t>
            </a:r>
            <a:r>
              <a:rPr lang="en-US" sz="2000" dirty="0" err="1"/>
              <a:t>dibagi</a:t>
            </a:r>
            <a:r>
              <a:rPr lang="en-US" sz="2000" dirty="0"/>
              <a:t> </a:t>
            </a:r>
            <a:r>
              <a:rPr lang="en-US" sz="2000" dirty="0" err="1"/>
              <a:t>dalam</a:t>
            </a:r>
            <a:r>
              <a:rPr lang="en-US" sz="2000" dirty="0"/>
              <a:t> 3 </a:t>
            </a:r>
            <a:r>
              <a:rPr lang="en-US" sz="2000" dirty="0" err="1"/>
              <a:t>bagian</a:t>
            </a:r>
            <a:r>
              <a:rPr lang="en-US" sz="2000" dirty="0"/>
              <a:t> (</a:t>
            </a:r>
            <a:r>
              <a:rPr lang="en-US" sz="2000" dirty="0" err="1"/>
              <a:t>mengabaikan</a:t>
            </a:r>
            <a:r>
              <a:rPr lang="en-US" sz="2000" dirty="0"/>
              <a:t> </a:t>
            </a:r>
            <a:r>
              <a:rPr lang="en-US" sz="2000" dirty="0" err="1"/>
              <a:t>kolom</a:t>
            </a:r>
            <a:r>
              <a:rPr lang="en-US" sz="2000" dirty="0"/>
              <a:t> Student ID) </a:t>
            </a:r>
            <a:r>
              <a:rPr lang="en-US" sz="2000" dirty="0" err="1"/>
              <a:t>yaitu</a:t>
            </a:r>
            <a:endParaRPr lang="en-US" sz="2000" dirty="0"/>
          </a:p>
          <a:p>
            <a:pPr lvl="1">
              <a:lnSpc>
                <a:spcPct val="100000"/>
              </a:lnSpc>
            </a:pPr>
            <a:r>
              <a:rPr lang="en-US" sz="2000" dirty="0" err="1"/>
              <a:t>Demografi</a:t>
            </a:r>
            <a:r>
              <a:rPr lang="en-US" sz="2000" dirty="0"/>
              <a:t> </a:t>
            </a:r>
            <a:r>
              <a:rPr lang="en-US" sz="2000" dirty="0" err="1"/>
              <a:t>berupa</a:t>
            </a:r>
            <a:r>
              <a:rPr lang="en-US" sz="2000" dirty="0"/>
              <a:t> Age, Gender, Academic Level, Country, </a:t>
            </a:r>
            <a:r>
              <a:rPr lang="en-US" sz="2000" dirty="0" err="1"/>
              <a:t>Relatiuonship</a:t>
            </a:r>
            <a:r>
              <a:rPr lang="en-US" sz="2000" dirty="0"/>
              <a:t> Status</a:t>
            </a:r>
          </a:p>
          <a:p>
            <a:pPr lvl="1">
              <a:lnSpc>
                <a:spcPct val="100000"/>
              </a:lnSpc>
            </a:pPr>
            <a:r>
              <a:rPr lang="en-US" sz="2000" dirty="0" err="1"/>
              <a:t>Perilaku</a:t>
            </a:r>
            <a:r>
              <a:rPr lang="en-US" sz="2000" dirty="0"/>
              <a:t> </a:t>
            </a:r>
            <a:r>
              <a:rPr lang="en-US" sz="2000" dirty="0" err="1"/>
              <a:t>berupa</a:t>
            </a:r>
            <a:r>
              <a:rPr lang="en-US" sz="2000" dirty="0"/>
              <a:t> Average Daily Usage Hours, Most Used Platform, Affects Academic Performance, Sleep Hours per Night, Conflicts Over Social Media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Target </a:t>
            </a:r>
            <a:r>
              <a:rPr lang="en-US" sz="2000" dirty="0" err="1"/>
              <a:t>berupa</a:t>
            </a:r>
            <a:r>
              <a:rPr lang="en-US" sz="2000" dirty="0"/>
              <a:t> Mental Health Score dan Addicted Score. Dengan target Mental Health Score </a:t>
            </a:r>
            <a:r>
              <a:rPr lang="en-US" sz="2000" dirty="0" err="1"/>
              <a:t>diabaikan</a:t>
            </a:r>
            <a:r>
              <a:rPr lang="en-US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42471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1720F-1CFE-D623-FE5A-B563ADC4B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71A05-B2B1-61B2-F2A8-59FDB5FC8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Bentuk </a:t>
            </a:r>
            <a:r>
              <a:rPr lang="en-US" dirty="0" err="1"/>
              <a:t>analisa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77839-7414-5881-2B67-516CB10AD1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Analisa </a:t>
            </a:r>
            <a:r>
              <a:rPr lang="en-US" sz="2400" dirty="0" err="1"/>
              <a:t>utama</a:t>
            </a:r>
            <a:r>
              <a:rPr lang="en-US" sz="2400" dirty="0"/>
              <a:t> </a:t>
            </a:r>
            <a:r>
              <a:rPr lang="en-US" sz="2400" dirty="0" err="1"/>
              <a:t>dalam</a:t>
            </a:r>
            <a:r>
              <a:rPr lang="en-US" sz="2400" dirty="0"/>
              <a:t> </a:t>
            </a:r>
            <a:r>
              <a:rPr lang="en-US" sz="2400" dirty="0" err="1"/>
              <a:t>bentuk</a:t>
            </a:r>
            <a:r>
              <a:rPr lang="en-US" sz="2400" dirty="0"/>
              <a:t> Exploratory Data Analysis</a:t>
            </a:r>
          </a:p>
          <a:p>
            <a:r>
              <a:rPr lang="en-US" sz="2400" dirty="0" err="1"/>
              <a:t>Menggunakan</a:t>
            </a:r>
            <a:r>
              <a:rPr lang="en-US" sz="2400" dirty="0"/>
              <a:t> Python </a:t>
            </a:r>
            <a:r>
              <a:rPr lang="en-US" sz="2400" dirty="0" err="1"/>
              <a:t>dengan</a:t>
            </a:r>
            <a:r>
              <a:rPr lang="en-US" sz="2400" dirty="0"/>
              <a:t> </a:t>
            </a:r>
            <a:r>
              <a:rPr lang="en-US" sz="2400" dirty="0" err="1"/>
              <a:t>pustaka</a:t>
            </a:r>
            <a:r>
              <a:rPr lang="en-US" sz="2400" dirty="0"/>
              <a:t> </a:t>
            </a:r>
            <a:r>
              <a:rPr lang="en-US" sz="2400" dirty="0" err="1"/>
              <a:t>streamlit</a:t>
            </a:r>
            <a:endParaRPr lang="en-US" sz="2400" dirty="0"/>
          </a:p>
          <a:p>
            <a:r>
              <a:rPr lang="en-US" sz="2400" dirty="0"/>
              <a:t>Terdapat </a:t>
            </a:r>
            <a:r>
              <a:rPr lang="en-US" sz="2400" dirty="0" err="1"/>
              <a:t>tambahan</a:t>
            </a:r>
            <a:r>
              <a:rPr lang="en-US" sz="2400" dirty="0"/>
              <a:t> </a:t>
            </a:r>
            <a:r>
              <a:rPr lang="en-US" sz="2400" dirty="0" err="1"/>
              <a:t>pembangunan</a:t>
            </a:r>
            <a:r>
              <a:rPr lang="en-US" sz="2400" dirty="0"/>
              <a:t> model machine learning dan playground </a:t>
            </a:r>
            <a:r>
              <a:rPr lang="en-US" sz="2400" dirty="0" err="1"/>
              <a:t>untuk</a:t>
            </a:r>
            <a:r>
              <a:rPr lang="en-US" sz="2400" dirty="0"/>
              <a:t> </a:t>
            </a:r>
            <a:r>
              <a:rPr lang="en-US" sz="2400" dirty="0" err="1"/>
              <a:t>mencoba</a:t>
            </a:r>
            <a:r>
              <a:rPr lang="en-US" sz="2400" dirty="0"/>
              <a:t> model</a:t>
            </a:r>
          </a:p>
          <a:p>
            <a:r>
              <a:rPr lang="en-US" sz="2400" dirty="0"/>
              <a:t>Dapat </a:t>
            </a:r>
            <a:r>
              <a:rPr lang="en-US" sz="2400" dirty="0" err="1"/>
              <a:t>diakses</a:t>
            </a:r>
            <a:r>
              <a:rPr lang="en-US" sz="2400" dirty="0"/>
              <a:t> pada https://portosocialmediaaddiction-baaczsorto3uwceazetxai.streamlit.app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156546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F80646A-4D44-D4CC-DE86-F67B004EB1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88" t="14575" r="3688" b="7988"/>
          <a:stretch>
            <a:fillRect/>
          </a:stretch>
        </p:blipFill>
        <p:spPr>
          <a:xfrm>
            <a:off x="446360" y="683912"/>
            <a:ext cx="11299280" cy="5490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570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56A4E4-2A06-BB7A-D292-73DB88ED8E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78177"/>
            <a:ext cx="5400000" cy="26846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B151568-B366-590E-C525-4BF38E60D23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262839"/>
            <a:ext cx="5400000" cy="268466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853B380-F90A-8CD3-F689-7BAA11F5690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000" y="3262839"/>
            <a:ext cx="5400000" cy="2684658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BE3B98DF-9EC6-B15A-E189-4F5A26DA6C35}"/>
              </a:ext>
            </a:extLst>
          </p:cNvPr>
          <p:cNvSpPr txBox="1">
            <a:spLocks/>
          </p:cNvSpPr>
          <p:nvPr/>
        </p:nvSpPr>
        <p:spPr>
          <a:xfrm>
            <a:off x="602986" y="265728"/>
            <a:ext cx="10981137" cy="1325563"/>
          </a:xfrm>
          <a:prstGeom prst="rect">
            <a:avLst/>
          </a:prstGeom>
        </p:spPr>
        <p:txBody>
          <a:bodyPr anchor="b"/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 sz="2800" kern="1200" cap="all" baseline="0">
                <a:solidFill>
                  <a:schemeClr val="accent5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DEMOGRAFI KONTRIBUTOR</a:t>
            </a:r>
          </a:p>
        </p:txBody>
      </p:sp>
    </p:spTree>
    <p:extLst>
      <p:ext uri="{BB962C8B-B14F-4D97-AF65-F5344CB8AC3E}">
        <p14:creationId xmlns:p14="http://schemas.microsoft.com/office/powerpoint/2010/main" val="2784305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DB96A-4005-C919-8259-2D83A1A28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A2CAA48-63B7-F321-43AA-934B629A4F7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744340"/>
            <a:ext cx="5400000" cy="26846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28E87BB-79C0-33E1-3207-787ACA2EF7B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262839"/>
            <a:ext cx="5400000" cy="268466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FCE3F2B4-FD4F-D942-4B34-5517A2E2BB17}"/>
              </a:ext>
            </a:extLst>
          </p:cNvPr>
          <p:cNvSpPr txBox="1">
            <a:spLocks/>
          </p:cNvSpPr>
          <p:nvPr/>
        </p:nvSpPr>
        <p:spPr>
          <a:xfrm>
            <a:off x="602986" y="265728"/>
            <a:ext cx="10981137" cy="1325563"/>
          </a:xfrm>
          <a:prstGeom prst="rect">
            <a:avLst/>
          </a:prstGeom>
        </p:spPr>
        <p:txBody>
          <a:bodyPr anchor="b"/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 sz="2800" kern="1200" cap="all" baseline="0">
                <a:solidFill>
                  <a:schemeClr val="accent5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DEMOGRAFI KONTRIBUTOR</a:t>
            </a:r>
          </a:p>
        </p:txBody>
      </p:sp>
    </p:spTree>
    <p:extLst>
      <p:ext uri="{BB962C8B-B14F-4D97-AF65-F5344CB8AC3E}">
        <p14:creationId xmlns:p14="http://schemas.microsoft.com/office/powerpoint/2010/main" val="8570835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9D96F-C78F-7214-AA95-EC083D882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914DD8-83E3-1663-BA3B-2550FFF918A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78180"/>
            <a:ext cx="5400000" cy="26846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5D5A55-064A-28C4-26D5-C96522539DB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000" y="3262839"/>
            <a:ext cx="5400000" cy="26846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B12B7B8-A406-763E-478D-A20FB42FD1B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262839"/>
            <a:ext cx="5400000" cy="2684659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3A18036B-4CE3-1A5A-1640-E87CAEF0E43B}"/>
              </a:ext>
            </a:extLst>
          </p:cNvPr>
          <p:cNvSpPr txBox="1">
            <a:spLocks/>
          </p:cNvSpPr>
          <p:nvPr/>
        </p:nvSpPr>
        <p:spPr>
          <a:xfrm>
            <a:off x="602986" y="265728"/>
            <a:ext cx="10981137" cy="1325563"/>
          </a:xfrm>
          <a:prstGeom prst="rect">
            <a:avLst/>
          </a:prstGeom>
        </p:spPr>
        <p:txBody>
          <a:bodyPr anchor="b"/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 sz="2800" kern="1200" cap="all" baseline="0">
                <a:solidFill>
                  <a:schemeClr val="accent5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PERILAKU KONTRIBUTOR</a:t>
            </a:r>
          </a:p>
        </p:txBody>
      </p:sp>
    </p:spTree>
    <p:extLst>
      <p:ext uri="{BB962C8B-B14F-4D97-AF65-F5344CB8AC3E}">
        <p14:creationId xmlns:p14="http://schemas.microsoft.com/office/powerpoint/2010/main" val="1170632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4AA63-DD52-A69D-058A-BDD5C040E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BB371F4-978B-BDEE-0276-01239C3650F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78180"/>
            <a:ext cx="5400000" cy="26846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15B798-FBB7-A48B-0901-EFD98DCFF33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262838"/>
            <a:ext cx="5400000" cy="2684659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51B8350-D0E9-F296-6827-D00AC39630C0}"/>
              </a:ext>
            </a:extLst>
          </p:cNvPr>
          <p:cNvSpPr txBox="1">
            <a:spLocks/>
          </p:cNvSpPr>
          <p:nvPr/>
        </p:nvSpPr>
        <p:spPr>
          <a:xfrm>
            <a:off x="602987" y="578180"/>
            <a:ext cx="5493014" cy="53568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 err="1"/>
              <a:t>Penggunaan</a:t>
            </a:r>
            <a:r>
              <a:rPr lang="en-US" sz="2400" dirty="0"/>
              <a:t> media </a:t>
            </a:r>
            <a:r>
              <a:rPr lang="en-US" sz="2400" dirty="0" err="1"/>
              <a:t>sosial</a:t>
            </a:r>
            <a:r>
              <a:rPr lang="en-US" sz="2400" dirty="0"/>
              <a:t> </a:t>
            </a:r>
            <a:r>
              <a:rPr lang="en-US" sz="2400" dirty="0" err="1"/>
              <a:t>terbanyak</a:t>
            </a:r>
            <a:r>
              <a:rPr lang="en-US" sz="2400" dirty="0"/>
              <a:t> pada 4.5-5.5 jam per </a:t>
            </a:r>
            <a:r>
              <a:rPr lang="en-US" sz="2400" dirty="0" err="1"/>
              <a:t>hari</a:t>
            </a:r>
            <a:endParaRPr lang="en-US" sz="2400" dirty="0"/>
          </a:p>
          <a:p>
            <a:r>
              <a:rPr lang="en-US" sz="2400" dirty="0" err="1"/>
              <a:t>Sebanyak</a:t>
            </a:r>
            <a:r>
              <a:rPr lang="en-US" sz="2400" dirty="0"/>
              <a:t> 64.3% </a:t>
            </a:r>
            <a:r>
              <a:rPr lang="en-US" sz="2400" dirty="0" err="1"/>
              <a:t>kontributor</a:t>
            </a:r>
            <a:r>
              <a:rPr lang="en-US" sz="2400" dirty="0"/>
              <a:t> </a:t>
            </a:r>
            <a:r>
              <a:rPr lang="en-US" sz="2400" dirty="0" err="1"/>
              <a:t>terdampak</a:t>
            </a:r>
            <a:r>
              <a:rPr lang="en-US" sz="2400" dirty="0"/>
              <a:t> </a:t>
            </a:r>
            <a:r>
              <a:rPr lang="en-US" sz="2400" dirty="0" err="1"/>
              <a:t>secara</a:t>
            </a:r>
            <a:r>
              <a:rPr lang="en-US" sz="2400" dirty="0"/>
              <a:t> </a:t>
            </a:r>
            <a:r>
              <a:rPr lang="en-US" sz="2400" dirty="0" err="1"/>
              <a:t>akademik</a:t>
            </a:r>
            <a:endParaRPr lang="en-US" sz="2400" dirty="0"/>
          </a:p>
          <a:p>
            <a:r>
              <a:rPr lang="en-US" sz="2400" dirty="0"/>
              <a:t>Jam </a:t>
            </a:r>
            <a:r>
              <a:rPr lang="en-US" sz="2400" dirty="0" err="1"/>
              <a:t>tidur</a:t>
            </a:r>
            <a:r>
              <a:rPr lang="en-US" sz="2400" dirty="0"/>
              <a:t> </a:t>
            </a:r>
            <a:r>
              <a:rPr lang="en-US" sz="2400" dirty="0" err="1"/>
              <a:t>terbanyak</a:t>
            </a:r>
            <a:r>
              <a:rPr lang="en-US" sz="2400" dirty="0"/>
              <a:t> </a:t>
            </a:r>
            <a:r>
              <a:rPr lang="en-US" sz="2400" dirty="0" err="1"/>
              <a:t>masih</a:t>
            </a:r>
            <a:r>
              <a:rPr lang="en-US" sz="2400" dirty="0"/>
              <a:t> pada 7-8 jam per </a:t>
            </a:r>
            <a:r>
              <a:rPr lang="en-US" sz="2400" dirty="0" err="1"/>
              <a:t>hari</a:t>
            </a:r>
            <a:endParaRPr lang="en-US" sz="2400" dirty="0"/>
          </a:p>
          <a:p>
            <a:r>
              <a:rPr lang="en-US" sz="2400" dirty="0" err="1"/>
              <a:t>Deduksi</a:t>
            </a:r>
            <a:r>
              <a:rPr lang="en-US" sz="2400" dirty="0"/>
              <a:t>, </a:t>
            </a:r>
            <a:r>
              <a:rPr lang="en-US" sz="2400" dirty="0" err="1"/>
              <a:t>penggunaan</a:t>
            </a:r>
            <a:r>
              <a:rPr lang="en-US" sz="2400" dirty="0"/>
              <a:t> media </a:t>
            </a:r>
            <a:r>
              <a:rPr lang="en-US" sz="2400" dirty="0" err="1"/>
              <a:t>sosial</a:t>
            </a:r>
            <a:r>
              <a:rPr lang="en-US" sz="2400" dirty="0"/>
              <a:t> </a:t>
            </a:r>
            <a:r>
              <a:rPr lang="en-US" sz="2400" dirty="0" err="1"/>
              <a:t>mengurangi</a:t>
            </a:r>
            <a:r>
              <a:rPr lang="en-US" sz="2400" dirty="0"/>
              <a:t> </a:t>
            </a:r>
            <a:r>
              <a:rPr lang="en-US" sz="2400" dirty="0" err="1"/>
              <a:t>waktu</a:t>
            </a:r>
            <a:r>
              <a:rPr lang="en-US" sz="2400" dirty="0"/>
              <a:t> </a:t>
            </a:r>
            <a:r>
              <a:rPr lang="en-US" sz="2400" dirty="0" err="1"/>
              <a:t>belajar</a:t>
            </a:r>
            <a:r>
              <a:rPr lang="en-US" sz="2400" dirty="0"/>
              <a:t> </a:t>
            </a:r>
            <a:r>
              <a:rPr lang="en-US" sz="2400" dirty="0" err="1"/>
              <a:t>bukan</a:t>
            </a:r>
            <a:r>
              <a:rPr lang="en-US" sz="2400" dirty="0"/>
              <a:t> </a:t>
            </a:r>
            <a:r>
              <a:rPr lang="en-US" sz="2400" dirty="0" err="1"/>
              <a:t>waktu</a:t>
            </a:r>
            <a:r>
              <a:rPr lang="en-US" sz="2400" dirty="0"/>
              <a:t> </a:t>
            </a:r>
            <a:r>
              <a:rPr lang="en-US" sz="2400" dirty="0" err="1"/>
              <a:t>tidur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135499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D3F1BA-AF5B-9C43-B682-6A993FB02CD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986" y="1591291"/>
            <a:ext cx="7772400" cy="3864119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D850C31-BB04-45C3-DD96-03FAFB703438}"/>
              </a:ext>
            </a:extLst>
          </p:cNvPr>
          <p:cNvSpPr txBox="1">
            <a:spLocks/>
          </p:cNvSpPr>
          <p:nvPr/>
        </p:nvSpPr>
        <p:spPr>
          <a:xfrm>
            <a:off x="602986" y="265728"/>
            <a:ext cx="10981137" cy="1325563"/>
          </a:xfrm>
          <a:prstGeom prst="rect">
            <a:avLst/>
          </a:prstGeom>
        </p:spPr>
        <p:txBody>
          <a:bodyPr anchor="b"/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 sz="2800" kern="1200" cap="all" baseline="0">
                <a:solidFill>
                  <a:schemeClr val="accent5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Sebaran addicted score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02A55D4-D8AA-F6CB-FA4C-0D966185269D}"/>
              </a:ext>
            </a:extLst>
          </p:cNvPr>
          <p:cNvSpPr txBox="1">
            <a:spLocks/>
          </p:cNvSpPr>
          <p:nvPr/>
        </p:nvSpPr>
        <p:spPr>
          <a:xfrm>
            <a:off x="8375386" y="750568"/>
            <a:ext cx="3816614" cy="53568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 err="1"/>
              <a:t>Kontributor</a:t>
            </a:r>
            <a:r>
              <a:rPr lang="en-US" sz="2400" dirty="0"/>
              <a:t> </a:t>
            </a:r>
            <a:r>
              <a:rPr lang="en-US" sz="2400" dirty="0" err="1"/>
              <a:t>terbanyak</a:t>
            </a:r>
            <a:r>
              <a:rPr lang="en-US" sz="2400" dirty="0"/>
              <a:t> pada addicted score 7 dan 8</a:t>
            </a:r>
          </a:p>
          <a:p>
            <a:r>
              <a:rPr lang="en-US" sz="2400" dirty="0" err="1"/>
              <a:t>Secara</a:t>
            </a:r>
            <a:r>
              <a:rPr lang="en-US" sz="2400" dirty="0"/>
              <a:t> </a:t>
            </a:r>
            <a:r>
              <a:rPr lang="en-US" sz="2400" dirty="0" err="1"/>
              <a:t>umum</a:t>
            </a:r>
            <a:r>
              <a:rPr lang="en-US" sz="2400" dirty="0"/>
              <a:t> </a:t>
            </a:r>
            <a:r>
              <a:rPr lang="en-US" sz="2400" dirty="0" err="1"/>
              <a:t>kontributor</a:t>
            </a:r>
            <a:r>
              <a:rPr lang="en-US" sz="2400" dirty="0"/>
              <a:t> </a:t>
            </a:r>
            <a:r>
              <a:rPr lang="en-US" sz="2400" dirty="0" err="1"/>
              <a:t>memiliki</a:t>
            </a:r>
            <a:r>
              <a:rPr lang="en-US" sz="2400" dirty="0"/>
              <a:t> </a:t>
            </a:r>
            <a:r>
              <a:rPr lang="en-US" sz="2400" dirty="0" err="1"/>
              <a:t>tingkat</a:t>
            </a:r>
            <a:r>
              <a:rPr lang="en-US" sz="2400" dirty="0"/>
              <a:t> </a:t>
            </a:r>
            <a:r>
              <a:rPr lang="en-US" sz="2400" dirty="0" err="1"/>
              <a:t>kencanduan</a:t>
            </a:r>
            <a:r>
              <a:rPr lang="en-US" sz="2400" dirty="0"/>
              <a:t> media </a:t>
            </a:r>
            <a:r>
              <a:rPr lang="en-US" sz="2400" dirty="0" err="1"/>
              <a:t>sosial</a:t>
            </a:r>
            <a:r>
              <a:rPr lang="en-US" sz="2400" dirty="0"/>
              <a:t> yang </a:t>
            </a:r>
            <a:r>
              <a:rPr lang="en-US" sz="2400" dirty="0" err="1"/>
              <a:t>tinggi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84454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1234B-1F90-F62E-5F82-568587750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71CB2D9-9907-1271-F5C7-3FD2F0453FCB}"/>
              </a:ext>
            </a:extLst>
          </p:cNvPr>
          <p:cNvSpPr txBox="1">
            <a:spLocks/>
          </p:cNvSpPr>
          <p:nvPr/>
        </p:nvSpPr>
        <p:spPr>
          <a:xfrm>
            <a:off x="602986" y="265728"/>
            <a:ext cx="10981137" cy="1325563"/>
          </a:xfrm>
          <a:prstGeom prst="rect">
            <a:avLst/>
          </a:prstGeom>
        </p:spPr>
        <p:txBody>
          <a:bodyPr anchor="b"/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 sz="2800" kern="1200" cap="all" baseline="0">
                <a:solidFill>
                  <a:schemeClr val="accent5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KORELASI VARIABEL DENGAN ADDICTED SCORE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E0A4D6-869A-D9E1-E3CC-1448CD72F2B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985" y="1634833"/>
            <a:ext cx="7772401" cy="3323142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22EC088-0C2E-2C98-7132-E16FA9C66DBA}"/>
              </a:ext>
            </a:extLst>
          </p:cNvPr>
          <p:cNvSpPr txBox="1">
            <a:spLocks/>
          </p:cNvSpPr>
          <p:nvPr/>
        </p:nvSpPr>
        <p:spPr>
          <a:xfrm>
            <a:off x="8375386" y="750568"/>
            <a:ext cx="3816614" cy="53568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Variabel </a:t>
            </a:r>
            <a:r>
              <a:rPr lang="en-US" sz="2400" dirty="0" err="1"/>
              <a:t>dengan</a:t>
            </a:r>
            <a:r>
              <a:rPr lang="en-US" sz="2400" dirty="0"/>
              <a:t> </a:t>
            </a:r>
            <a:r>
              <a:rPr lang="en-US" sz="2400" dirty="0" err="1"/>
              <a:t>korelasi</a:t>
            </a:r>
            <a:r>
              <a:rPr lang="en-US" sz="2400" dirty="0"/>
              <a:t> </a:t>
            </a:r>
            <a:r>
              <a:rPr lang="en-US" sz="2400" dirty="0" err="1"/>
              <a:t>tinggi</a:t>
            </a:r>
            <a:r>
              <a:rPr lang="en-US" sz="2400" dirty="0"/>
              <a:t> </a:t>
            </a:r>
            <a:r>
              <a:rPr lang="en-US" sz="2400" dirty="0" err="1"/>
              <a:t>terhadap</a:t>
            </a:r>
            <a:r>
              <a:rPr lang="en-US" sz="2400" dirty="0"/>
              <a:t> addicted score </a:t>
            </a:r>
            <a:r>
              <a:rPr lang="en-US" sz="2400" dirty="0" err="1"/>
              <a:t>adalah</a:t>
            </a:r>
            <a:r>
              <a:rPr lang="en-US" sz="2400" dirty="0"/>
              <a:t> conflicts, academic impact, usage hours dan sleep hours</a:t>
            </a:r>
          </a:p>
          <a:p>
            <a:r>
              <a:rPr lang="en-US" sz="2400" dirty="0" err="1"/>
              <a:t>Variabel</a:t>
            </a:r>
            <a:r>
              <a:rPr lang="en-US" sz="2400" dirty="0"/>
              <a:t> academic level </a:t>
            </a:r>
            <a:r>
              <a:rPr lang="en-US" sz="2400" dirty="0" err="1"/>
              <a:t>tidak</a:t>
            </a:r>
            <a:r>
              <a:rPr lang="en-US" sz="2400" dirty="0"/>
              <a:t> </a:t>
            </a:r>
            <a:r>
              <a:rPr lang="en-US" sz="2400" dirty="0" err="1"/>
              <a:t>memiliki</a:t>
            </a:r>
            <a:r>
              <a:rPr lang="en-US" sz="2400" dirty="0"/>
              <a:t> </a:t>
            </a:r>
            <a:r>
              <a:rPr lang="en-US" sz="2400" dirty="0" err="1"/>
              <a:t>korelasi</a:t>
            </a:r>
            <a:r>
              <a:rPr lang="en-US" sz="2400" dirty="0"/>
              <a:t> </a:t>
            </a:r>
            <a:r>
              <a:rPr lang="en-US" sz="2400" dirty="0" err="1"/>
              <a:t>sekalipun</a:t>
            </a:r>
            <a:r>
              <a:rPr lang="en-US" sz="2400" dirty="0"/>
              <a:t> </a:t>
            </a:r>
            <a:r>
              <a:rPr lang="en-US" sz="2400" dirty="0" err="1"/>
              <a:t>kebanyakan</a:t>
            </a:r>
            <a:r>
              <a:rPr lang="en-US" sz="2400" dirty="0"/>
              <a:t> </a:t>
            </a:r>
            <a:r>
              <a:rPr lang="en-US" sz="2400" dirty="0" err="1"/>
              <a:t>adalah</a:t>
            </a:r>
            <a:r>
              <a:rPr lang="en-US" sz="2400" dirty="0"/>
              <a:t> </a:t>
            </a:r>
            <a:r>
              <a:rPr lang="en-US" sz="2400" dirty="0" err="1"/>
              <a:t>mahasiswa</a:t>
            </a:r>
            <a:r>
              <a:rPr lang="en-US" sz="2400" dirty="0"/>
              <a:t> S1 dan S2</a:t>
            </a:r>
          </a:p>
        </p:txBody>
      </p:sp>
    </p:spTree>
    <p:extLst>
      <p:ext uri="{BB962C8B-B14F-4D97-AF65-F5344CB8AC3E}">
        <p14:creationId xmlns:p14="http://schemas.microsoft.com/office/powerpoint/2010/main" val="6370350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3C3BC-DA34-8ABF-3E58-697DB60F8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E068774-93AD-57AA-AAE8-E076B5E574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78180"/>
            <a:ext cx="5400000" cy="26846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624452C-99D0-1D91-CEE1-4550B2E2F4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000" y="3262838"/>
            <a:ext cx="5400000" cy="26846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CEC8E6-B1AB-B45A-0654-F0DFFB69BEF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262838"/>
            <a:ext cx="5400000" cy="2684659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07F813C0-CFFA-3D38-88A3-9B6217925885}"/>
              </a:ext>
            </a:extLst>
          </p:cNvPr>
          <p:cNvSpPr txBox="1">
            <a:spLocks/>
          </p:cNvSpPr>
          <p:nvPr/>
        </p:nvSpPr>
        <p:spPr>
          <a:xfrm>
            <a:off x="602986" y="265728"/>
            <a:ext cx="10981137" cy="1325563"/>
          </a:xfrm>
          <a:prstGeom prst="rect">
            <a:avLst/>
          </a:prstGeom>
        </p:spPr>
        <p:txBody>
          <a:bodyPr anchor="b"/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 sz="2800" kern="1200" cap="all" baseline="0">
                <a:solidFill>
                  <a:schemeClr val="accent5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VARIABEL KORELASI POSITIF </a:t>
            </a:r>
          </a:p>
          <a:p>
            <a:r>
              <a:rPr lang="en-US" dirty="0"/>
              <a:t>TERHADAP ADDICTED SCORE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51CB785-6197-91BA-1E8F-C5ACFCDCC17A}"/>
              </a:ext>
            </a:extLst>
          </p:cNvPr>
          <p:cNvSpPr txBox="1">
            <a:spLocks/>
          </p:cNvSpPr>
          <p:nvPr/>
        </p:nvSpPr>
        <p:spPr>
          <a:xfrm>
            <a:off x="602986" y="1591291"/>
            <a:ext cx="5400000" cy="167154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Makin </a:t>
            </a:r>
            <a:r>
              <a:rPr lang="en-US" sz="2400" dirty="0" err="1"/>
              <a:t>tinggi</a:t>
            </a:r>
            <a:r>
              <a:rPr lang="en-US" sz="2400" dirty="0"/>
              <a:t> </a:t>
            </a:r>
            <a:r>
              <a:rPr lang="en-US" sz="2400" dirty="0" err="1"/>
              <a:t>nilai</a:t>
            </a:r>
            <a:r>
              <a:rPr lang="en-US" sz="2400" dirty="0"/>
              <a:t> </a:t>
            </a:r>
            <a:r>
              <a:rPr lang="en-US" sz="2400" dirty="0" err="1"/>
              <a:t>variabel</a:t>
            </a:r>
            <a:r>
              <a:rPr lang="en-US" sz="2400" dirty="0"/>
              <a:t> </a:t>
            </a:r>
            <a:r>
              <a:rPr lang="en-US" sz="2400" dirty="0" err="1"/>
              <a:t>ini</a:t>
            </a:r>
            <a:r>
              <a:rPr lang="en-US" sz="2400" dirty="0"/>
              <a:t> </a:t>
            </a:r>
            <a:r>
              <a:rPr lang="en-US" sz="2400" dirty="0" err="1"/>
              <a:t>maka</a:t>
            </a:r>
            <a:r>
              <a:rPr lang="en-US" sz="2400" dirty="0"/>
              <a:t> </a:t>
            </a:r>
            <a:r>
              <a:rPr lang="en-US" sz="2400" dirty="0" err="1"/>
              <a:t>makin</a:t>
            </a:r>
            <a:r>
              <a:rPr lang="en-US" sz="2400" dirty="0"/>
              <a:t> </a:t>
            </a:r>
            <a:r>
              <a:rPr lang="en-US" sz="2400" dirty="0" err="1"/>
              <a:t>tinggi</a:t>
            </a:r>
            <a:r>
              <a:rPr lang="en-US" sz="2400" dirty="0"/>
              <a:t> addicted score</a:t>
            </a:r>
          </a:p>
        </p:txBody>
      </p:sp>
    </p:spTree>
    <p:extLst>
      <p:ext uri="{BB962C8B-B14F-4D97-AF65-F5344CB8AC3E}">
        <p14:creationId xmlns:p14="http://schemas.microsoft.com/office/powerpoint/2010/main" val="1710779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F1C4E-DFCB-3F26-A845-7570B2CA4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FF6D9C-FC7B-F170-E550-20DF9376FAA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744341"/>
            <a:ext cx="5400000" cy="2684659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B192EC96-DAEB-CA33-8E66-3C5BA79D9A2C}"/>
              </a:ext>
            </a:extLst>
          </p:cNvPr>
          <p:cNvSpPr txBox="1">
            <a:spLocks/>
          </p:cNvSpPr>
          <p:nvPr/>
        </p:nvSpPr>
        <p:spPr>
          <a:xfrm>
            <a:off x="602986" y="265728"/>
            <a:ext cx="10981137" cy="1325563"/>
          </a:xfrm>
          <a:prstGeom prst="rect">
            <a:avLst/>
          </a:prstGeom>
        </p:spPr>
        <p:txBody>
          <a:bodyPr anchor="b"/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 sz="2800" kern="1200" cap="all" baseline="0">
                <a:solidFill>
                  <a:schemeClr val="accent5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VARIABEL KORELASI NEGATIF </a:t>
            </a:r>
          </a:p>
          <a:p>
            <a:r>
              <a:rPr lang="en-US" dirty="0"/>
              <a:t>TERHADAP ADDICTED SCORE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02BFBCE-E394-4C7C-D9F4-8A4F249253FD}"/>
              </a:ext>
            </a:extLst>
          </p:cNvPr>
          <p:cNvSpPr txBox="1">
            <a:spLocks/>
          </p:cNvSpPr>
          <p:nvPr/>
        </p:nvSpPr>
        <p:spPr>
          <a:xfrm>
            <a:off x="602986" y="1591291"/>
            <a:ext cx="5400000" cy="167154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Makin </a:t>
            </a:r>
            <a:r>
              <a:rPr lang="en-US" sz="2400" dirty="0" err="1"/>
              <a:t>rendah</a:t>
            </a:r>
            <a:r>
              <a:rPr lang="en-US" sz="2400" dirty="0"/>
              <a:t> </a:t>
            </a:r>
            <a:r>
              <a:rPr lang="en-US" sz="2400" dirty="0" err="1"/>
              <a:t>nilai</a:t>
            </a:r>
            <a:r>
              <a:rPr lang="en-US" sz="2400" dirty="0"/>
              <a:t> </a:t>
            </a:r>
            <a:r>
              <a:rPr lang="en-US" sz="2400" dirty="0" err="1"/>
              <a:t>variabel</a:t>
            </a:r>
            <a:r>
              <a:rPr lang="en-US" sz="2400" dirty="0"/>
              <a:t> </a:t>
            </a:r>
            <a:r>
              <a:rPr lang="en-US" sz="2400" dirty="0" err="1"/>
              <a:t>ini</a:t>
            </a:r>
            <a:r>
              <a:rPr lang="en-US" sz="2400" dirty="0"/>
              <a:t> </a:t>
            </a:r>
            <a:r>
              <a:rPr lang="en-US" sz="2400" dirty="0" err="1"/>
              <a:t>maka</a:t>
            </a:r>
            <a:r>
              <a:rPr lang="en-US" sz="2400" dirty="0"/>
              <a:t> </a:t>
            </a:r>
            <a:r>
              <a:rPr lang="en-US" sz="2400" dirty="0" err="1"/>
              <a:t>makin</a:t>
            </a:r>
            <a:r>
              <a:rPr lang="en-US" sz="2400" dirty="0"/>
              <a:t> </a:t>
            </a:r>
            <a:r>
              <a:rPr lang="en-US" sz="2400" dirty="0" err="1"/>
              <a:t>tinggi</a:t>
            </a:r>
            <a:r>
              <a:rPr lang="en-US" sz="2400" dirty="0"/>
              <a:t> addicted score</a:t>
            </a:r>
          </a:p>
        </p:txBody>
      </p:sp>
    </p:spTree>
    <p:extLst>
      <p:ext uri="{BB962C8B-B14F-4D97-AF65-F5344CB8AC3E}">
        <p14:creationId xmlns:p14="http://schemas.microsoft.com/office/powerpoint/2010/main" val="42408949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03C8A-7273-4E19-CF24-603644E7B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kesimpulan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B2DE8-E8CB-194A-B0D6-EBFFF03ED8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5846" y="3544865"/>
            <a:ext cx="8990722" cy="2986564"/>
          </a:xfrm>
        </p:spPr>
        <p:txBody>
          <a:bodyPr>
            <a:normAutofit/>
          </a:bodyPr>
          <a:lstStyle/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2000" dirty="0" err="1"/>
              <a:t>Konflik</a:t>
            </a:r>
            <a:r>
              <a:rPr lang="en-US" sz="2000" dirty="0"/>
              <a:t> di media </a:t>
            </a:r>
            <a:r>
              <a:rPr lang="en-US" sz="2000" dirty="0" err="1"/>
              <a:t>sosial</a:t>
            </a:r>
            <a:r>
              <a:rPr lang="en-US" sz="2000" dirty="0"/>
              <a:t> dan screen time </a:t>
            </a:r>
            <a:r>
              <a:rPr lang="en-US" sz="2000" dirty="0" err="1"/>
              <a:t>menjadi</a:t>
            </a:r>
            <a:r>
              <a:rPr lang="en-US" sz="2000" dirty="0"/>
              <a:t> </a:t>
            </a:r>
            <a:r>
              <a:rPr lang="en-US" sz="2000" dirty="0" err="1"/>
              <a:t>penanda</a:t>
            </a:r>
            <a:r>
              <a:rPr lang="en-US" sz="2000" dirty="0"/>
              <a:t> </a:t>
            </a:r>
            <a:r>
              <a:rPr lang="en-US" sz="2000" dirty="0" err="1"/>
              <a:t>dasar</a:t>
            </a:r>
            <a:r>
              <a:rPr lang="en-US" sz="2000" dirty="0"/>
              <a:t> </a:t>
            </a:r>
            <a:r>
              <a:rPr lang="en-US" sz="2000" dirty="0" err="1"/>
              <a:t>kecanduan</a:t>
            </a:r>
            <a:r>
              <a:rPr lang="en-US" sz="2000" dirty="0"/>
              <a:t> media </a:t>
            </a:r>
            <a:r>
              <a:rPr lang="en-US" sz="2000" dirty="0" err="1"/>
              <a:t>sosial</a:t>
            </a:r>
            <a:endParaRPr lang="en-US" sz="2000" dirty="0"/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2000" dirty="0" err="1"/>
              <a:t>Pelajar</a:t>
            </a:r>
            <a:r>
              <a:rPr lang="en-US" sz="2000" dirty="0"/>
              <a:t>/</a:t>
            </a:r>
            <a:r>
              <a:rPr lang="en-US" sz="2000" dirty="0" err="1"/>
              <a:t>mahasiswa</a:t>
            </a:r>
            <a:r>
              <a:rPr lang="en-US" sz="2000" dirty="0"/>
              <a:t> </a:t>
            </a:r>
            <a:r>
              <a:rPr lang="en-US" sz="2000" dirty="0" err="1"/>
              <a:t>kebanyakan</a:t>
            </a:r>
            <a:r>
              <a:rPr lang="en-US" sz="2000" dirty="0"/>
              <a:t> </a:t>
            </a:r>
            <a:r>
              <a:rPr lang="en-US" sz="2000" dirty="0" err="1"/>
              <a:t>memilih</a:t>
            </a:r>
            <a:r>
              <a:rPr lang="en-US" sz="2000" dirty="0"/>
              <a:t> </a:t>
            </a:r>
            <a:r>
              <a:rPr lang="en-US" sz="2000" dirty="0" err="1"/>
              <a:t>untuk</a:t>
            </a:r>
            <a:r>
              <a:rPr lang="en-US" sz="2000" dirty="0"/>
              <a:t> </a:t>
            </a:r>
            <a:r>
              <a:rPr lang="en-US" sz="2000" dirty="0" err="1"/>
              <a:t>mengurangi</a:t>
            </a:r>
            <a:r>
              <a:rPr lang="en-US" sz="2000" dirty="0"/>
              <a:t> </a:t>
            </a:r>
            <a:r>
              <a:rPr lang="en-US" sz="2000" dirty="0" err="1"/>
              <a:t>waktu</a:t>
            </a:r>
            <a:r>
              <a:rPr lang="en-US" sz="2000" dirty="0"/>
              <a:t> </a:t>
            </a:r>
            <a:r>
              <a:rPr lang="en-US" sz="2000" dirty="0" err="1"/>
              <a:t>belajar</a:t>
            </a:r>
            <a:r>
              <a:rPr lang="en-US" sz="2000" dirty="0"/>
              <a:t> </a:t>
            </a:r>
            <a:r>
              <a:rPr lang="en-US" sz="2000" dirty="0" err="1"/>
              <a:t>untuk</a:t>
            </a:r>
            <a:r>
              <a:rPr lang="en-US" sz="2000" dirty="0"/>
              <a:t> </a:t>
            </a:r>
            <a:r>
              <a:rPr lang="en-US" sz="2000" dirty="0" err="1"/>
              <a:t>konsumsi</a:t>
            </a:r>
            <a:r>
              <a:rPr lang="en-US" sz="2000" dirty="0"/>
              <a:t> media </a:t>
            </a:r>
            <a:r>
              <a:rPr lang="en-US" sz="2000" dirty="0" err="1"/>
              <a:t>sosial</a:t>
            </a:r>
            <a:endParaRPr lang="en-US" sz="2000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sz="2000" dirty="0" err="1"/>
              <a:t>Berdampak</a:t>
            </a:r>
            <a:r>
              <a:rPr lang="en-US" sz="2000" dirty="0"/>
              <a:t> pada </a:t>
            </a:r>
            <a:r>
              <a:rPr lang="en-US" sz="2000" dirty="0" err="1"/>
              <a:t>prestasi</a:t>
            </a:r>
            <a:r>
              <a:rPr lang="en-US" sz="2000" dirty="0"/>
              <a:t> yang </a:t>
            </a:r>
            <a:r>
              <a:rPr lang="en-US" sz="2000" dirty="0" err="1"/>
              <a:t>menurun</a:t>
            </a:r>
            <a:endParaRPr lang="en-US" sz="2000" dirty="0"/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2000" dirty="0"/>
              <a:t>Jika </a:t>
            </a:r>
            <a:r>
              <a:rPr lang="en-US" sz="2000" dirty="0" err="1"/>
              <a:t>pelajar</a:t>
            </a:r>
            <a:r>
              <a:rPr lang="en-US" sz="2000" dirty="0"/>
              <a:t>/</a:t>
            </a:r>
            <a:r>
              <a:rPr lang="en-US" sz="2000" dirty="0" err="1"/>
              <a:t>mahasiswa</a:t>
            </a:r>
            <a:r>
              <a:rPr lang="en-US" sz="2000" dirty="0"/>
              <a:t> </a:t>
            </a:r>
            <a:r>
              <a:rPr lang="en-US" sz="2000" dirty="0" err="1"/>
              <a:t>sampai</a:t>
            </a:r>
            <a:r>
              <a:rPr lang="en-US" sz="2000" dirty="0"/>
              <a:t> </a:t>
            </a:r>
            <a:r>
              <a:rPr lang="en-US" sz="2000" dirty="0" err="1"/>
              <a:t>mengurangi</a:t>
            </a:r>
            <a:r>
              <a:rPr lang="en-US" sz="2000" dirty="0"/>
              <a:t> </a:t>
            </a:r>
            <a:r>
              <a:rPr lang="en-US" sz="2000" dirty="0" err="1"/>
              <a:t>waktu</a:t>
            </a:r>
            <a:r>
              <a:rPr lang="en-US" sz="2000" dirty="0"/>
              <a:t> </a:t>
            </a:r>
            <a:r>
              <a:rPr lang="en-US" sz="2000" dirty="0" err="1"/>
              <a:t>tidur</a:t>
            </a:r>
            <a:r>
              <a:rPr lang="en-US" sz="2000" dirty="0"/>
              <a:t> </a:t>
            </a:r>
            <a:r>
              <a:rPr lang="en-US" sz="2000" dirty="0" err="1"/>
              <a:t>maka</a:t>
            </a:r>
            <a:r>
              <a:rPr lang="en-US" sz="2000" dirty="0"/>
              <a:t> </a:t>
            </a:r>
            <a:r>
              <a:rPr lang="en-US" sz="2000" dirty="0" err="1"/>
              <a:t>tingkat</a:t>
            </a:r>
            <a:r>
              <a:rPr lang="en-US" sz="2000" dirty="0"/>
              <a:t> </a:t>
            </a:r>
            <a:r>
              <a:rPr lang="en-US" sz="2000" dirty="0" err="1"/>
              <a:t>kecanduan</a:t>
            </a:r>
            <a:r>
              <a:rPr lang="en-US" sz="2000" dirty="0"/>
              <a:t> </a:t>
            </a:r>
            <a:r>
              <a:rPr lang="en-US" sz="2000" dirty="0" err="1"/>
              <a:t>tinggi</a:t>
            </a:r>
            <a:endParaRPr lang="en-US" sz="2000" dirty="0"/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2000" dirty="0"/>
              <a:t>Tingkat </a:t>
            </a:r>
            <a:r>
              <a:rPr lang="en-US" sz="2000" dirty="0" err="1"/>
              <a:t>pendidikan</a:t>
            </a:r>
            <a:r>
              <a:rPr lang="en-US" sz="2000" dirty="0"/>
              <a:t> </a:t>
            </a:r>
            <a:r>
              <a:rPr lang="en-US" sz="2000" dirty="0" err="1"/>
              <a:t>ternyata</a:t>
            </a:r>
            <a:r>
              <a:rPr lang="en-US" sz="2000" dirty="0"/>
              <a:t> </a:t>
            </a:r>
            <a:r>
              <a:rPr lang="en-US" sz="2000" dirty="0" err="1"/>
              <a:t>tidak</a:t>
            </a:r>
            <a:r>
              <a:rPr lang="en-US" sz="2000" dirty="0"/>
              <a:t> </a:t>
            </a:r>
            <a:r>
              <a:rPr lang="en-US" sz="2000" dirty="0" err="1"/>
              <a:t>berpengaruh</a:t>
            </a:r>
            <a:r>
              <a:rPr lang="en-US" sz="2000" dirty="0"/>
              <a:t> </a:t>
            </a:r>
            <a:r>
              <a:rPr lang="en-US" sz="2000" dirty="0" err="1"/>
              <a:t>terhadap</a:t>
            </a:r>
            <a:r>
              <a:rPr lang="en-US" sz="2000" dirty="0"/>
              <a:t> </a:t>
            </a:r>
            <a:r>
              <a:rPr lang="en-US" sz="2000" dirty="0" err="1"/>
              <a:t>kecanduan</a:t>
            </a:r>
            <a:r>
              <a:rPr lang="en-US" sz="2000" dirty="0"/>
              <a:t> media </a:t>
            </a:r>
            <a:r>
              <a:rPr lang="en-US" sz="2000" dirty="0" err="1"/>
              <a:t>sosial</a:t>
            </a:r>
            <a:endParaRPr lang="en-US" sz="2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3661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6DD8D-A400-2ECC-B4E2-5E22E22B2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BACBD-9E5D-9BB0-9C64-74B799F29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Keterangan</a:t>
            </a:r>
            <a:r>
              <a:rPr lang="en-US" dirty="0"/>
              <a:t> </a:t>
            </a:r>
            <a:r>
              <a:rPr lang="en-US" dirty="0" err="1"/>
              <a:t>teknikal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7336B-15CA-2C83-465B-8D09A9AA8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i="1" dirty="0"/>
              <a:t>Chart </a:t>
            </a:r>
            <a:r>
              <a:rPr lang="en-US" sz="2000" dirty="0"/>
              <a:t>yang </a:t>
            </a:r>
            <a:r>
              <a:rPr lang="en-US" sz="2000" dirty="0" err="1"/>
              <a:t>menjelaskan</a:t>
            </a:r>
            <a:r>
              <a:rPr lang="en-US" sz="2000" dirty="0"/>
              <a:t> </a:t>
            </a:r>
            <a:r>
              <a:rPr lang="en-US" sz="2000" dirty="0" err="1"/>
              <a:t>distribusi</a:t>
            </a:r>
            <a:r>
              <a:rPr lang="en-US" sz="2000" dirty="0"/>
              <a:t> </a:t>
            </a:r>
            <a:r>
              <a:rPr lang="en-US" sz="2000" dirty="0" err="1"/>
              <a:t>tiap</a:t>
            </a:r>
            <a:r>
              <a:rPr lang="en-US" sz="2000" dirty="0"/>
              <a:t> </a:t>
            </a:r>
            <a:r>
              <a:rPr lang="en-US" sz="2000" dirty="0" err="1"/>
              <a:t>variabel</a:t>
            </a:r>
            <a:r>
              <a:rPr lang="en-US" sz="2000" dirty="0"/>
              <a:t> </a:t>
            </a:r>
            <a:r>
              <a:rPr lang="en-US" sz="2000" dirty="0" err="1"/>
              <a:t>dibangun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i="1" dirty="0"/>
              <a:t>bar chart</a:t>
            </a:r>
          </a:p>
          <a:p>
            <a:r>
              <a:rPr lang="en-US" sz="2000" dirty="0" err="1"/>
              <a:t>Beberapa</a:t>
            </a:r>
            <a:r>
              <a:rPr lang="en-US" sz="2000" dirty="0"/>
              <a:t> </a:t>
            </a:r>
            <a:r>
              <a:rPr lang="en-US" sz="2000" dirty="0" err="1"/>
              <a:t>kolom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data </a:t>
            </a:r>
            <a:r>
              <a:rPr lang="en-US" sz="2000" dirty="0" err="1"/>
              <a:t>kategorikal</a:t>
            </a:r>
            <a:r>
              <a:rPr lang="en-US" sz="2000" dirty="0"/>
              <a:t> </a:t>
            </a:r>
            <a:r>
              <a:rPr lang="en-US" sz="2000" dirty="0" err="1"/>
              <a:t>memiliki</a:t>
            </a:r>
            <a:r>
              <a:rPr lang="en-US" sz="2000" dirty="0"/>
              <a:t> </a:t>
            </a:r>
            <a:r>
              <a:rPr lang="en-US" sz="2000" dirty="0" err="1"/>
              <a:t>variasi</a:t>
            </a:r>
            <a:r>
              <a:rPr lang="en-US" sz="2000" dirty="0"/>
              <a:t> </a:t>
            </a:r>
            <a:r>
              <a:rPr lang="en-US" sz="2000" dirty="0" err="1"/>
              <a:t>nilai</a:t>
            </a:r>
            <a:r>
              <a:rPr lang="en-US" sz="2000" dirty="0"/>
              <a:t> yang </a:t>
            </a:r>
            <a:r>
              <a:rPr lang="en-US" sz="2000" dirty="0" err="1"/>
              <a:t>terlalu</a:t>
            </a:r>
            <a:r>
              <a:rPr lang="en-US" sz="2000" dirty="0"/>
              <a:t> </a:t>
            </a:r>
            <a:r>
              <a:rPr lang="en-US" sz="2000" dirty="0" err="1"/>
              <a:t>banyak</a:t>
            </a:r>
            <a:r>
              <a:rPr lang="en-US" sz="2000" dirty="0"/>
              <a:t>. </a:t>
            </a:r>
            <a:r>
              <a:rPr lang="en-US" sz="2000" dirty="0" err="1"/>
              <a:t>Untuk</a:t>
            </a:r>
            <a:r>
              <a:rPr lang="en-US" sz="2000" dirty="0"/>
              <a:t> </a:t>
            </a:r>
            <a:r>
              <a:rPr lang="en-US" sz="2000" dirty="0" err="1"/>
              <a:t>kolom</a:t>
            </a:r>
            <a:r>
              <a:rPr lang="en-US" sz="2000" dirty="0"/>
              <a:t> </a:t>
            </a:r>
            <a:r>
              <a:rPr lang="en-US" sz="2000" dirty="0" err="1"/>
              <a:t>seperti</a:t>
            </a:r>
            <a:r>
              <a:rPr lang="en-US" sz="2000" dirty="0"/>
              <a:t> </a:t>
            </a:r>
            <a:r>
              <a:rPr lang="en-US" sz="2000" dirty="0" err="1"/>
              <a:t>ini</a:t>
            </a:r>
            <a:r>
              <a:rPr lang="en-US" sz="2000" dirty="0"/>
              <a:t> </a:t>
            </a:r>
            <a:r>
              <a:rPr lang="en-US" sz="2000" dirty="0" err="1"/>
              <a:t>diambil</a:t>
            </a:r>
            <a:r>
              <a:rPr lang="en-US" sz="2000" dirty="0"/>
              <a:t> </a:t>
            </a:r>
            <a:r>
              <a:rPr lang="en-US" sz="2000" dirty="0" err="1"/>
              <a:t>kolom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n data </a:t>
            </a:r>
            <a:r>
              <a:rPr lang="en-US" sz="2000" dirty="0" err="1"/>
              <a:t>tertinggi</a:t>
            </a:r>
            <a:r>
              <a:rPr lang="en-US" sz="2000" dirty="0"/>
              <a:t> </a:t>
            </a:r>
            <a:r>
              <a:rPr lang="en-US" sz="2000" dirty="0" err="1"/>
              <a:t>dimunculkan</a:t>
            </a:r>
            <a:r>
              <a:rPr lang="en-US" sz="2000" dirty="0"/>
              <a:t> </a:t>
            </a:r>
            <a:r>
              <a:rPr lang="en-US" sz="2000" dirty="0" err="1"/>
              <a:t>secara</a:t>
            </a:r>
            <a:r>
              <a:rPr lang="en-US" sz="2000" dirty="0"/>
              <a:t> </a:t>
            </a:r>
            <a:r>
              <a:rPr lang="en-US" sz="2000" dirty="0" err="1"/>
              <a:t>individu</a:t>
            </a:r>
            <a:r>
              <a:rPr lang="en-US" sz="2000" dirty="0"/>
              <a:t> </a:t>
            </a:r>
            <a:r>
              <a:rPr lang="en-US" sz="2000" dirty="0" err="1"/>
              <a:t>lalu</a:t>
            </a:r>
            <a:r>
              <a:rPr lang="en-US" sz="2000" dirty="0"/>
              <a:t> </a:t>
            </a:r>
            <a:r>
              <a:rPr lang="en-US" sz="2000" dirty="0" err="1"/>
              <a:t>kolom</a:t>
            </a:r>
            <a:r>
              <a:rPr lang="en-US" sz="2000" dirty="0"/>
              <a:t> lain </a:t>
            </a:r>
            <a:r>
              <a:rPr lang="en-US" sz="2000" dirty="0" err="1"/>
              <a:t>dijadikan</a:t>
            </a:r>
            <a:r>
              <a:rPr lang="en-US" sz="2000" dirty="0"/>
              <a:t> </a:t>
            </a:r>
            <a:r>
              <a:rPr lang="en-US" sz="2000" dirty="0" err="1"/>
              <a:t>satu</a:t>
            </a:r>
            <a:r>
              <a:rPr lang="en-US" sz="2000" dirty="0"/>
              <a:t> </a:t>
            </a:r>
            <a:r>
              <a:rPr lang="en-US" sz="2000" dirty="0" err="1"/>
              <a:t>menjadi</a:t>
            </a:r>
            <a:r>
              <a:rPr lang="en-US" sz="2000" dirty="0"/>
              <a:t> Other</a:t>
            </a:r>
          </a:p>
          <a:p>
            <a:pPr lvl="1"/>
            <a:r>
              <a:rPr lang="en-US" sz="2000" dirty="0"/>
              <a:t>Country, </a:t>
            </a:r>
            <a:r>
              <a:rPr lang="en-US" sz="2000" dirty="0" err="1"/>
              <a:t>diambil</a:t>
            </a:r>
            <a:r>
              <a:rPr lang="en-US" sz="2000" dirty="0"/>
              <a:t> 9 data </a:t>
            </a:r>
            <a:r>
              <a:rPr lang="en-US" sz="2000" dirty="0" err="1"/>
              <a:t>tertinggi</a:t>
            </a:r>
            <a:endParaRPr lang="en-US" sz="2000" dirty="0"/>
          </a:p>
          <a:p>
            <a:pPr lvl="1"/>
            <a:r>
              <a:rPr lang="en-US" sz="2000" dirty="0"/>
              <a:t>Platform, </a:t>
            </a:r>
            <a:r>
              <a:rPr lang="en-US" sz="2000" dirty="0" err="1"/>
              <a:t>diambil</a:t>
            </a:r>
            <a:r>
              <a:rPr lang="en-US" sz="2000" dirty="0"/>
              <a:t> 4 data </a:t>
            </a:r>
            <a:r>
              <a:rPr lang="en-US" sz="2000" dirty="0" err="1"/>
              <a:t>tertinggi</a:t>
            </a:r>
            <a:endParaRPr lang="en-US" sz="2000" dirty="0"/>
          </a:p>
          <a:p>
            <a:r>
              <a:rPr lang="en-US" sz="2000" dirty="0"/>
              <a:t>Kolom </a:t>
            </a:r>
            <a:r>
              <a:rPr lang="en-US" sz="2000" dirty="0" err="1"/>
              <a:t>dengan</a:t>
            </a:r>
            <a:r>
              <a:rPr lang="en-US" sz="2000" dirty="0"/>
              <a:t> data </a:t>
            </a:r>
            <a:r>
              <a:rPr lang="en-US" sz="2000" dirty="0" err="1"/>
              <a:t>kontinu</a:t>
            </a:r>
            <a:r>
              <a:rPr lang="en-US" sz="2000" dirty="0"/>
              <a:t> </a:t>
            </a:r>
            <a:r>
              <a:rPr lang="en-US" sz="2000" dirty="0" err="1"/>
              <a:t>dikelompokkan</a:t>
            </a:r>
            <a:r>
              <a:rPr lang="en-US" sz="2000" dirty="0"/>
              <a:t> </a:t>
            </a:r>
            <a:r>
              <a:rPr lang="en-US" sz="2000" dirty="0" err="1"/>
              <a:t>dalam</a:t>
            </a:r>
            <a:r>
              <a:rPr lang="en-US" sz="2000" dirty="0"/>
              <a:t> </a:t>
            </a:r>
            <a:r>
              <a:rPr lang="en-US" sz="2000" i="1" dirty="0"/>
              <a:t>range</a:t>
            </a:r>
            <a:r>
              <a:rPr lang="en-US" sz="2000" dirty="0"/>
              <a:t> 1</a:t>
            </a:r>
          </a:p>
          <a:p>
            <a:pPr lvl="1"/>
            <a:r>
              <a:rPr lang="en-US" sz="2000" dirty="0"/>
              <a:t>Daily usage, 1.5-2.5, 2.5-3.5, ...., 7.5-...</a:t>
            </a:r>
          </a:p>
          <a:p>
            <a:pPr lvl="1"/>
            <a:r>
              <a:rPr lang="en-US" sz="2000" dirty="0"/>
              <a:t>Sleep hours, 3-4, 4-5, ...., 9-...</a:t>
            </a:r>
          </a:p>
        </p:txBody>
      </p:sp>
    </p:spTree>
    <p:extLst>
      <p:ext uri="{BB962C8B-B14F-4D97-AF65-F5344CB8AC3E}">
        <p14:creationId xmlns:p14="http://schemas.microsoft.com/office/powerpoint/2010/main" val="22247664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880B6-6CFC-8EDD-153C-047C0B29D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Keterangan</a:t>
            </a:r>
            <a:r>
              <a:rPr lang="en-US" dirty="0"/>
              <a:t> </a:t>
            </a:r>
            <a:r>
              <a:rPr lang="en-US" dirty="0" err="1"/>
              <a:t>teknikal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8280E-03C3-BB02-75D5-0520761A58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Chart yang </a:t>
            </a:r>
            <a:r>
              <a:rPr lang="en-US" sz="2000" dirty="0" err="1"/>
              <a:t>menjelaskan</a:t>
            </a:r>
            <a:r>
              <a:rPr lang="en-US" sz="2000" dirty="0"/>
              <a:t> </a:t>
            </a:r>
            <a:r>
              <a:rPr lang="en-US" sz="2000" dirty="0" err="1"/>
              <a:t>korelasi</a:t>
            </a:r>
            <a:r>
              <a:rPr lang="en-US" sz="2000" dirty="0"/>
              <a:t> </a:t>
            </a:r>
            <a:r>
              <a:rPr lang="en-US" sz="2000" dirty="0" err="1"/>
              <a:t>semua</a:t>
            </a:r>
            <a:r>
              <a:rPr lang="en-US" sz="2000" dirty="0"/>
              <a:t> feature / </a:t>
            </a:r>
            <a:r>
              <a:rPr lang="en-US" sz="2000" dirty="0" err="1"/>
              <a:t>kolom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target (addicted score) </a:t>
            </a:r>
            <a:r>
              <a:rPr lang="en-US" sz="2000" dirty="0" err="1"/>
              <a:t>dibuat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stacked bar chart</a:t>
            </a:r>
          </a:p>
          <a:p>
            <a:pPr lvl="1"/>
            <a:r>
              <a:rPr lang="en-US" sz="2000" dirty="0" err="1"/>
              <a:t>Korelasi</a:t>
            </a:r>
            <a:r>
              <a:rPr lang="en-US" sz="2000" dirty="0"/>
              <a:t> </a:t>
            </a:r>
            <a:r>
              <a:rPr lang="en-US" sz="2000" dirty="0" err="1"/>
              <a:t>positif</a:t>
            </a:r>
            <a:r>
              <a:rPr lang="en-US" sz="2000" dirty="0"/>
              <a:t> </a:t>
            </a:r>
            <a:r>
              <a:rPr lang="en-US" sz="2000" dirty="0" err="1"/>
              <a:t>dianggap</a:t>
            </a:r>
            <a:r>
              <a:rPr lang="en-US" sz="2000" dirty="0"/>
              <a:t> </a:t>
            </a:r>
            <a:r>
              <a:rPr lang="en-US" sz="2000" dirty="0" err="1"/>
              <a:t>sebagai</a:t>
            </a:r>
            <a:r>
              <a:rPr lang="en-US" sz="2000" dirty="0"/>
              <a:t> 1 </a:t>
            </a:r>
            <a:r>
              <a:rPr lang="en-US" sz="2000" dirty="0" err="1"/>
              <a:t>nilai</a:t>
            </a:r>
            <a:r>
              <a:rPr lang="en-US" sz="2000" dirty="0"/>
              <a:t> dan </a:t>
            </a:r>
            <a:r>
              <a:rPr lang="en-US" sz="2000" dirty="0" err="1"/>
              <a:t>korelasi</a:t>
            </a:r>
            <a:r>
              <a:rPr lang="en-US" sz="2000" dirty="0"/>
              <a:t> </a:t>
            </a:r>
            <a:r>
              <a:rPr lang="en-US" sz="2000" dirty="0" err="1"/>
              <a:t>negatif</a:t>
            </a:r>
            <a:r>
              <a:rPr lang="en-US" sz="2000" dirty="0"/>
              <a:t> </a:t>
            </a:r>
            <a:r>
              <a:rPr lang="en-US" sz="2000" dirty="0" err="1"/>
              <a:t>dianggap</a:t>
            </a:r>
            <a:r>
              <a:rPr lang="en-US" sz="2000" dirty="0"/>
              <a:t> </a:t>
            </a:r>
            <a:r>
              <a:rPr lang="en-US" sz="2000" dirty="0" err="1"/>
              <a:t>sebagai</a:t>
            </a:r>
            <a:r>
              <a:rPr lang="en-US" sz="2000" dirty="0"/>
              <a:t> 1 </a:t>
            </a:r>
            <a:r>
              <a:rPr lang="en-US" sz="2000" dirty="0" err="1"/>
              <a:t>nilai</a:t>
            </a:r>
            <a:endParaRPr lang="en-US" sz="2000" dirty="0"/>
          </a:p>
          <a:p>
            <a:pPr lvl="1"/>
            <a:r>
              <a:rPr lang="en-US" sz="2000" dirty="0"/>
              <a:t>Misal academic level </a:t>
            </a:r>
            <a:r>
              <a:rPr lang="en-US" sz="2000" dirty="0" err="1"/>
              <a:t>memiliki</a:t>
            </a:r>
            <a:r>
              <a:rPr lang="en-US" sz="2000" dirty="0"/>
              <a:t> </a:t>
            </a:r>
            <a:r>
              <a:rPr lang="en-US" sz="2000" dirty="0" err="1"/>
              <a:t>korelasi</a:t>
            </a:r>
            <a:r>
              <a:rPr lang="en-US" sz="2000" dirty="0"/>
              <a:t> 0.075 </a:t>
            </a:r>
            <a:r>
              <a:rPr lang="en-US" sz="2000" dirty="0" err="1"/>
              <a:t>maka</a:t>
            </a:r>
            <a:r>
              <a:rPr lang="en-US" sz="2000" dirty="0"/>
              <a:t> </a:t>
            </a:r>
            <a:r>
              <a:rPr lang="en-US" sz="2000" dirty="0" err="1"/>
              <a:t>dibentuk</a:t>
            </a:r>
            <a:r>
              <a:rPr lang="en-US" sz="2000" dirty="0"/>
              <a:t> </a:t>
            </a:r>
            <a:r>
              <a:rPr lang="en-US" sz="2000" dirty="0" err="1"/>
              <a:t>menjadi</a:t>
            </a:r>
            <a:r>
              <a:rPr lang="en-US" sz="2000" dirty="0"/>
              <a:t> 0.075 </a:t>
            </a:r>
            <a:r>
              <a:rPr lang="en-US" sz="2000" dirty="0" err="1"/>
              <a:t>nilai</a:t>
            </a:r>
            <a:r>
              <a:rPr lang="en-US" sz="2000" dirty="0"/>
              <a:t> </a:t>
            </a:r>
            <a:r>
              <a:rPr lang="en-US" sz="2000" dirty="0" err="1"/>
              <a:t>positif</a:t>
            </a:r>
            <a:r>
              <a:rPr lang="en-US" sz="2000" dirty="0"/>
              <a:t> dan 0 </a:t>
            </a:r>
            <a:r>
              <a:rPr lang="en-US" sz="2000" dirty="0" err="1"/>
              <a:t>nilai</a:t>
            </a:r>
            <a:r>
              <a:rPr lang="en-US" sz="2000" dirty="0"/>
              <a:t> </a:t>
            </a:r>
            <a:r>
              <a:rPr lang="en-US" sz="2000" dirty="0" err="1"/>
              <a:t>negatif</a:t>
            </a:r>
            <a:endParaRPr lang="en-US" sz="2000" dirty="0"/>
          </a:p>
          <a:p>
            <a:r>
              <a:rPr lang="en-US" sz="2000" dirty="0"/>
              <a:t>Chart yang </a:t>
            </a:r>
            <a:r>
              <a:rPr lang="en-US" sz="2000" dirty="0" err="1"/>
              <a:t>menjelaskan</a:t>
            </a:r>
            <a:r>
              <a:rPr lang="en-US" sz="2000" dirty="0"/>
              <a:t> </a:t>
            </a:r>
            <a:r>
              <a:rPr lang="en-US" sz="2000" dirty="0" err="1"/>
              <a:t>korelasi</a:t>
            </a:r>
            <a:r>
              <a:rPr lang="en-US" sz="2000" dirty="0"/>
              <a:t> </a:t>
            </a:r>
            <a:r>
              <a:rPr lang="en-US" sz="2000" dirty="0" err="1"/>
              <a:t>sebuah</a:t>
            </a:r>
            <a:r>
              <a:rPr lang="en-US" sz="2000" dirty="0"/>
              <a:t> feature / </a:t>
            </a:r>
            <a:r>
              <a:rPr lang="en-US" sz="2000" dirty="0" err="1"/>
              <a:t>kolom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target (addicted score) </a:t>
            </a:r>
            <a:r>
              <a:rPr lang="en-US" sz="2000" dirty="0" err="1"/>
              <a:t>dibuat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scattered chart</a:t>
            </a:r>
          </a:p>
        </p:txBody>
      </p:sp>
    </p:spTree>
    <p:extLst>
      <p:ext uri="{BB962C8B-B14F-4D97-AF65-F5344CB8AC3E}">
        <p14:creationId xmlns:p14="http://schemas.microsoft.com/office/powerpoint/2010/main" val="675805046"/>
      </p:ext>
    </p:extLst>
  </p:cSld>
  <p:clrMapOvr>
    <a:masterClrMapping/>
  </p:clrMapOvr>
</p:sld>
</file>

<file path=ppt/theme/theme1.xml><?xml version="1.0" encoding="utf-8"?>
<a:theme xmlns:a="http://schemas.openxmlformats.org/drawingml/2006/main" name="Orange Experience">
  <a:themeElements>
    <a:clrScheme name="Orange Experience">
      <a:dk1>
        <a:srgbClr val="131313"/>
      </a:dk1>
      <a:lt1>
        <a:sysClr val="window" lastClr="FFFFFF"/>
      </a:lt1>
      <a:dk2>
        <a:srgbClr val="444742"/>
      </a:dk2>
      <a:lt2>
        <a:srgbClr val="EDECE9"/>
      </a:lt2>
      <a:accent1>
        <a:srgbClr val="ED6845"/>
      </a:accent1>
      <a:accent2>
        <a:srgbClr val="F48A56"/>
      </a:accent2>
      <a:accent3>
        <a:srgbClr val="9FA295"/>
      </a:accent3>
      <a:accent4>
        <a:srgbClr val="5B6E74"/>
      </a:accent4>
      <a:accent5>
        <a:srgbClr val="6E7868"/>
      </a:accent5>
      <a:accent6>
        <a:srgbClr val="A1AAAA"/>
      </a:accent6>
      <a:hlink>
        <a:srgbClr val="F05814"/>
      </a:hlink>
      <a:folHlink>
        <a:srgbClr val="E99401"/>
      </a:folHlink>
    </a:clrScheme>
    <a:fontScheme name="Custom 40">
      <a:majorFont>
        <a:latin typeface="Oswald SemiBold"/>
        <a:ea typeface=""/>
        <a:cs typeface=""/>
      </a:majorFont>
      <a:minorFont>
        <a:latin typeface="Univers Condense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range experience" id="{9BAA8FFB-1EEF-49AC-B7FF-0F37799585E9}" vid="{6523F788-A6E6-47B0-B3C7-625411BE5A1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a19d03a-48bc-4359-8038-5b5f6d5847c3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Orange Experience</Template>
  <TotalTime>1409</TotalTime>
  <Words>513</Words>
  <Application>Microsoft Macintosh PowerPoint</Application>
  <PresentationFormat>Widescreen</PresentationFormat>
  <Paragraphs>58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Arial</vt:lpstr>
      <vt:lpstr>Calibri</vt:lpstr>
      <vt:lpstr>Oswald SemiBold</vt:lpstr>
      <vt:lpstr>Univers Condensed Light</vt:lpstr>
      <vt:lpstr>Orange Experience</vt:lpstr>
      <vt:lpstr>STUDENT SOCIAL MEDIA ADDICTION</vt:lpstr>
      <vt:lpstr>Pendahuluan</vt:lpstr>
      <vt:lpstr>Data</vt:lpstr>
      <vt:lpstr>Bentuk analisa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kesimpulan</vt:lpstr>
      <vt:lpstr>Keterangan teknikal</vt:lpstr>
      <vt:lpstr>Keterangan teknikal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Utomo</dc:creator>
  <cp:lastModifiedBy>Victor Utomo</cp:lastModifiedBy>
  <cp:revision>29</cp:revision>
  <dcterms:created xsi:type="dcterms:W3CDTF">2026-10-13T03:19:27Z</dcterms:created>
  <dcterms:modified xsi:type="dcterms:W3CDTF">2026-10-14T02:49:00Z</dcterms:modified>
</cp:coreProperties>
</file>