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17"/>
  </p:notesMasterIdLst>
  <p:sldIdLst>
    <p:sldId id="257" r:id="rId2"/>
    <p:sldId id="258" r:id="rId3"/>
    <p:sldId id="261" r:id="rId4"/>
    <p:sldId id="262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4" r:id="rId14"/>
    <p:sldId id="273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7"/>
  </p:normalViewPr>
  <p:slideViewPr>
    <p:cSldViewPr snapToGrid="0">
      <p:cViewPr varScale="1">
        <p:scale>
          <a:sx n="88" d="100"/>
          <a:sy n="88" d="100"/>
        </p:scale>
        <p:origin x="17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49085-1825-D64E-9834-834432FAC688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F147B-7E12-3946-ABF7-E51A2DD4A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27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F147B-7E12-3946-ABF7-E51A2DD4A89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21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8798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6F81-747A-40C6-B81B-62F051B20082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9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B19E114-DE0F-4D79-972B-16F4D1534B50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2952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454ACAC3-7932-4379-B917-F7F78C6F24BE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12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B9144B-27A2-4831-A05B-9434A462331E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43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182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92419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9526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12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602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336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4288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859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9952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5543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199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55660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9022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879140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3438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28265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28568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0054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5DE8-BB4A-408C-A60C-374B496D02BA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253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9DBE-31FF-4D71-B719-92EBAC3193CE}" type="datetime1">
              <a:rPr lang="en-US" smtClean="0"/>
              <a:t>10/13/26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2990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270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1896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06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  <p:sldLayoutId id="2147483748" r:id="rId25"/>
    <p:sldLayoutId id="2147483749" r:id="rId26"/>
    <p:sldLayoutId id="2147483750" r:id="rId27"/>
  </p:sldLayoutIdLst>
  <p:hf sldNum="0" hdr="0" ft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8036-CACC-9285-C4C3-C33251A65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9620" y="685799"/>
            <a:ext cx="6373670" cy="2743201"/>
          </a:xfrm>
        </p:spPr>
        <p:txBody>
          <a:bodyPr/>
          <a:lstStyle/>
          <a:p>
            <a:pPr algn="r"/>
            <a:r>
              <a:rPr lang="en-US" dirty="0"/>
              <a:t>STUDENT SOCIAL MEDIA ADDICTION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94F2F-279A-850D-9B1F-5E604C9B34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Victor </a:t>
            </a:r>
            <a:r>
              <a:rPr lang="en-US" dirty="0" err="1"/>
              <a:t>utomo</a:t>
            </a:r>
            <a:r>
              <a:rPr lang="en-US" dirty="0"/>
              <a:t> – data analyst portfolio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778E80-ECBF-EE36-FA8A-A596972959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 scaling="44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380343"/>
            <a:ext cx="6716485" cy="447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3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98E6-AA3B-5BA0-5222-B2DF5894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Pendahuluan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54D2A-F087-4335-367C-DA032A945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Penggunaan</a:t>
            </a:r>
            <a:r>
              <a:rPr lang="en-US" sz="2400" dirty="0"/>
              <a:t> media </a:t>
            </a:r>
            <a:r>
              <a:rPr lang="en-US" sz="2400" dirty="0" err="1"/>
              <a:t>sosial</a:t>
            </a:r>
            <a:r>
              <a:rPr lang="en-US" sz="2400" dirty="0"/>
              <a:t> yang </a:t>
            </a:r>
            <a:r>
              <a:rPr lang="en-US" sz="2400" dirty="0" err="1"/>
              <a:t>tinggi</a:t>
            </a:r>
            <a:endParaRPr lang="en-US" sz="2400" dirty="0"/>
          </a:p>
          <a:p>
            <a:r>
              <a:rPr lang="en-US" sz="2400" dirty="0"/>
              <a:t>Integrasi media </a:t>
            </a:r>
            <a:r>
              <a:rPr lang="en-US" sz="2400" dirty="0" err="1"/>
              <a:t>sosial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kehidupan</a:t>
            </a:r>
            <a:r>
              <a:rPr lang="en-US" sz="2400" dirty="0"/>
              <a:t> </a:t>
            </a:r>
            <a:r>
              <a:rPr lang="en-US" sz="2400" dirty="0" err="1"/>
              <a:t>nyata</a:t>
            </a:r>
            <a:endParaRPr lang="en-US" sz="2400" dirty="0"/>
          </a:p>
          <a:p>
            <a:r>
              <a:rPr lang="en-US" sz="2400" dirty="0" err="1"/>
              <a:t>Kecenderungan</a:t>
            </a:r>
            <a:r>
              <a:rPr lang="en-US" sz="2400" dirty="0"/>
              <a:t> media </a:t>
            </a:r>
            <a:r>
              <a:rPr lang="en-US" sz="2400" dirty="0" err="1"/>
              <a:t>sosial</a:t>
            </a:r>
            <a:r>
              <a:rPr lang="en-US" sz="2400" dirty="0"/>
              <a:t> yang </a:t>
            </a:r>
            <a:r>
              <a:rPr lang="en-US" sz="2400" i="1" dirty="0"/>
              <a:t>rewarding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i="1" dirty="0"/>
              <a:t>screen time </a:t>
            </a:r>
            <a:r>
              <a:rPr lang="en-US" sz="2400" dirty="0"/>
              <a:t>yang </a:t>
            </a:r>
            <a:r>
              <a:rPr lang="en-US" sz="2400" dirty="0" err="1"/>
              <a:t>tinggi</a:t>
            </a:r>
            <a:endParaRPr lang="en-US" sz="2400" dirty="0"/>
          </a:p>
          <a:p>
            <a:r>
              <a:rPr lang="en-US" sz="2400" dirty="0"/>
              <a:t>Risiko yang </a:t>
            </a:r>
            <a:r>
              <a:rPr lang="en-US" sz="2400" dirty="0" err="1"/>
              <a:t>besar</a:t>
            </a:r>
            <a:r>
              <a:rPr lang="en-US" sz="2400" dirty="0"/>
              <a:t> </a:t>
            </a:r>
            <a:r>
              <a:rPr lang="en-US" sz="2400" dirty="0" err="1"/>
              <a:t>bagi</a:t>
            </a:r>
            <a:r>
              <a:rPr lang="en-US" sz="2400" dirty="0"/>
              <a:t> </a:t>
            </a:r>
            <a:r>
              <a:rPr lang="en-US" sz="2400" dirty="0" err="1"/>
              <a:t>pelajar</a:t>
            </a:r>
            <a:r>
              <a:rPr lang="en-US" sz="2400" dirty="0"/>
              <a:t>/</a:t>
            </a:r>
            <a:r>
              <a:rPr lang="en-US" sz="2400" dirty="0" err="1"/>
              <a:t>mahasiswa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kecanduan</a:t>
            </a:r>
            <a:r>
              <a:rPr lang="en-US" sz="2400" dirty="0"/>
              <a:t> media </a:t>
            </a:r>
            <a:r>
              <a:rPr lang="en-US" sz="2400" dirty="0" err="1"/>
              <a:t>sosial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22530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EFB9ED-00CB-5588-F45E-BD976464520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-1"/>
            <a:ext cx="4822372" cy="482237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248AC81-D7B2-4EF6-F397-D8F368969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28744-7CEC-D714-4DF7-03CDD112C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Data </a:t>
            </a:r>
            <a:r>
              <a:rPr lang="en-US" sz="2000" dirty="0" err="1"/>
              <a:t>didapat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Kaggle </a:t>
            </a:r>
            <a:r>
              <a:rPr lang="en-US" sz="2000" dirty="0" err="1"/>
              <a:t>dari</a:t>
            </a:r>
            <a:r>
              <a:rPr lang="en-US" sz="2000" dirty="0"/>
              <a:t> link </a:t>
            </a:r>
            <a:r>
              <a:rPr lang="en-US" sz="2000" dirty="0" err="1"/>
              <a:t>berikut</a:t>
            </a:r>
            <a:r>
              <a:rPr lang="en-US" sz="2000" dirty="0"/>
              <a:t> https://</a:t>
            </a:r>
            <a:r>
              <a:rPr lang="en-US" sz="2000" dirty="0" err="1"/>
              <a:t>www.kaggle.com</a:t>
            </a:r>
            <a:r>
              <a:rPr lang="en-US" sz="2000" dirty="0"/>
              <a:t>/datasets/</a:t>
            </a:r>
            <a:r>
              <a:rPr lang="en-US" sz="2000" dirty="0" err="1"/>
              <a:t>zahranusratt</a:t>
            </a:r>
            <a:r>
              <a:rPr lang="en-US" sz="2000" dirty="0"/>
              <a:t>/student-social-media-addiction-analysis-dataset/data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Data </a:t>
            </a:r>
            <a:r>
              <a:rPr lang="en-US" sz="2000" dirty="0" err="1"/>
              <a:t>terdiri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705 baris dan 13 </a:t>
            </a:r>
            <a:r>
              <a:rPr lang="en-US" sz="2000" dirty="0" err="1"/>
              <a:t>kolom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Kolom </a:t>
            </a:r>
            <a:r>
              <a:rPr lang="en-US" sz="2000" dirty="0" err="1"/>
              <a:t>tersebut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dibagi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3 </a:t>
            </a:r>
            <a:r>
              <a:rPr lang="en-US" sz="2000" dirty="0" err="1"/>
              <a:t>bagian</a:t>
            </a:r>
            <a:r>
              <a:rPr lang="en-US" sz="2000" dirty="0"/>
              <a:t> (</a:t>
            </a:r>
            <a:r>
              <a:rPr lang="en-US" sz="2000" dirty="0" err="1"/>
              <a:t>mengabaikan</a:t>
            </a:r>
            <a:r>
              <a:rPr lang="en-US" sz="2000" dirty="0"/>
              <a:t> </a:t>
            </a:r>
            <a:r>
              <a:rPr lang="en-US" sz="2000" dirty="0" err="1"/>
              <a:t>kolom</a:t>
            </a:r>
            <a:r>
              <a:rPr lang="en-US" sz="2000" dirty="0"/>
              <a:t> Student ID) </a:t>
            </a:r>
            <a:r>
              <a:rPr lang="en-US" sz="2000" dirty="0" err="1"/>
              <a:t>yaitu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2000" dirty="0" err="1"/>
              <a:t>Demografi</a:t>
            </a:r>
            <a:r>
              <a:rPr lang="en-US" sz="2000" dirty="0"/>
              <a:t> </a:t>
            </a:r>
            <a:r>
              <a:rPr lang="en-US" sz="2000" dirty="0" err="1"/>
              <a:t>berupa</a:t>
            </a:r>
            <a:r>
              <a:rPr lang="en-US" sz="2000" dirty="0"/>
              <a:t> Age, Gender, Academic Level, Country, </a:t>
            </a:r>
            <a:r>
              <a:rPr lang="en-US" sz="2000" dirty="0" err="1"/>
              <a:t>Relatiuonship</a:t>
            </a:r>
            <a:r>
              <a:rPr lang="en-US" sz="2000" dirty="0"/>
              <a:t> Status</a:t>
            </a:r>
          </a:p>
          <a:p>
            <a:pPr lvl="1">
              <a:lnSpc>
                <a:spcPct val="100000"/>
              </a:lnSpc>
            </a:pPr>
            <a:r>
              <a:rPr lang="en-US" sz="2000" dirty="0" err="1"/>
              <a:t>Perilaku</a:t>
            </a:r>
            <a:r>
              <a:rPr lang="en-US" sz="2000" dirty="0"/>
              <a:t> </a:t>
            </a:r>
            <a:r>
              <a:rPr lang="en-US" sz="2000" dirty="0" err="1"/>
              <a:t>berupa</a:t>
            </a:r>
            <a:r>
              <a:rPr lang="en-US" sz="2000" dirty="0"/>
              <a:t> Average Daily Usage Hours, Most Used Platform, Affects Academic Performance, Sleep Hours per Night, Conflicts Over Social Media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Target </a:t>
            </a:r>
            <a:r>
              <a:rPr lang="en-US" sz="2000" dirty="0" err="1"/>
              <a:t>berupa</a:t>
            </a:r>
            <a:r>
              <a:rPr lang="en-US" sz="2000" dirty="0"/>
              <a:t> Mental Health Score dan Addicted Score. Dengan target Mental Health Score </a:t>
            </a:r>
            <a:r>
              <a:rPr lang="en-US" sz="2000" dirty="0" err="1"/>
              <a:t>diabaikan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247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1720F-1CFE-D623-FE5A-B563ADC4B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1A05-B2B1-61B2-F2A8-59FDB5FC8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Bentuk </a:t>
            </a:r>
            <a:r>
              <a:rPr lang="en-US" dirty="0" err="1"/>
              <a:t>analisa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77839-7414-5881-2B67-516CB10AD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Analisa </a:t>
            </a:r>
            <a:r>
              <a:rPr lang="en-US" sz="2400" dirty="0" err="1"/>
              <a:t>utama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 Exploratory Data Analysis</a:t>
            </a:r>
          </a:p>
          <a:p>
            <a:r>
              <a:rPr lang="en-US" sz="2400" dirty="0" err="1"/>
              <a:t>Menggunakan</a:t>
            </a:r>
            <a:r>
              <a:rPr lang="en-US" sz="2400" dirty="0"/>
              <a:t> Python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pustaka</a:t>
            </a:r>
            <a:r>
              <a:rPr lang="en-US" sz="2400" dirty="0"/>
              <a:t> </a:t>
            </a:r>
            <a:r>
              <a:rPr lang="en-US" sz="2400" dirty="0" err="1"/>
              <a:t>streamlit</a:t>
            </a:r>
            <a:endParaRPr lang="en-US" sz="2400" dirty="0"/>
          </a:p>
          <a:p>
            <a:r>
              <a:rPr lang="en-US" sz="2400" dirty="0"/>
              <a:t>Terdapat </a:t>
            </a:r>
            <a:r>
              <a:rPr lang="en-US" sz="2400" dirty="0" err="1"/>
              <a:t>tambahan</a:t>
            </a:r>
            <a:r>
              <a:rPr lang="en-US" sz="2400" dirty="0"/>
              <a:t> </a:t>
            </a:r>
            <a:r>
              <a:rPr lang="en-US" sz="2400" dirty="0" err="1"/>
              <a:t>pembangunan</a:t>
            </a:r>
            <a:r>
              <a:rPr lang="en-US" sz="2400" dirty="0"/>
              <a:t> model machine learning dan playground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mencoba</a:t>
            </a:r>
            <a:r>
              <a:rPr lang="en-US" sz="2400" dirty="0"/>
              <a:t> model</a:t>
            </a:r>
          </a:p>
          <a:p>
            <a:r>
              <a:rPr lang="en-US" sz="2400" dirty="0"/>
              <a:t>Dapat </a:t>
            </a:r>
            <a:r>
              <a:rPr lang="en-US" sz="2400" dirty="0" err="1"/>
              <a:t>diakses</a:t>
            </a:r>
            <a:r>
              <a:rPr lang="en-US" sz="2400" dirty="0"/>
              <a:t> pada https://portosocialmediaaddiction-baaczsorto3uwceazetxai.streamlit.app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15654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56A4E4-2A06-BB7A-D292-73DB88ED8E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8177"/>
            <a:ext cx="5400000" cy="26846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151568-B366-590E-C525-4BF38E60D2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262839"/>
            <a:ext cx="5400000" cy="26846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53B380-F90A-8CD3-F689-7BAA11F5690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0" y="3262839"/>
            <a:ext cx="5400000" cy="2684658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BE3B98DF-9EC6-B15A-E189-4F5A26DA6C35}"/>
              </a:ext>
            </a:extLst>
          </p:cNvPr>
          <p:cNvSpPr txBox="1">
            <a:spLocks/>
          </p:cNvSpPr>
          <p:nvPr/>
        </p:nvSpPr>
        <p:spPr>
          <a:xfrm>
            <a:off x="602986" y="265728"/>
            <a:ext cx="10981137" cy="1325563"/>
          </a:xfrm>
          <a:prstGeom prst="rect">
            <a:avLst/>
          </a:prstGeom>
        </p:spPr>
        <p:txBody>
          <a:bodyPr anchor="b"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DEMOGRAFI KONTRIBUTOR</a:t>
            </a:r>
          </a:p>
        </p:txBody>
      </p:sp>
    </p:spTree>
    <p:extLst>
      <p:ext uri="{BB962C8B-B14F-4D97-AF65-F5344CB8AC3E}">
        <p14:creationId xmlns:p14="http://schemas.microsoft.com/office/powerpoint/2010/main" val="2784305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DB96A-4005-C919-8259-2D83A1A2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2CAA48-63B7-F321-43AA-934B629A4F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44340"/>
            <a:ext cx="5400000" cy="26846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8E87BB-79C0-33E1-3207-787ACA2EF7B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262839"/>
            <a:ext cx="5400000" cy="268466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CE3F2B4-FD4F-D942-4B34-5517A2E2BB17}"/>
              </a:ext>
            </a:extLst>
          </p:cNvPr>
          <p:cNvSpPr txBox="1">
            <a:spLocks/>
          </p:cNvSpPr>
          <p:nvPr/>
        </p:nvSpPr>
        <p:spPr>
          <a:xfrm>
            <a:off x="602986" y="265728"/>
            <a:ext cx="10981137" cy="1325563"/>
          </a:xfrm>
          <a:prstGeom prst="rect">
            <a:avLst/>
          </a:prstGeom>
        </p:spPr>
        <p:txBody>
          <a:bodyPr anchor="b"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DEMOGRAFI KONTRIBUTOR</a:t>
            </a:r>
          </a:p>
        </p:txBody>
      </p:sp>
    </p:spTree>
    <p:extLst>
      <p:ext uri="{BB962C8B-B14F-4D97-AF65-F5344CB8AC3E}">
        <p14:creationId xmlns:p14="http://schemas.microsoft.com/office/powerpoint/2010/main" val="85708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9D96F-C78F-7214-AA95-EC083D882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914DD8-83E3-1663-BA3B-2550FFF918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8180"/>
            <a:ext cx="5400000" cy="26846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5D5A55-064A-28C4-26D5-C96522539DB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0" y="3262839"/>
            <a:ext cx="5400000" cy="26846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12B7B8-A406-763E-478D-A20FB42FD1B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262839"/>
            <a:ext cx="5400000" cy="268465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A18036B-4CE3-1A5A-1640-E87CAEF0E43B}"/>
              </a:ext>
            </a:extLst>
          </p:cNvPr>
          <p:cNvSpPr txBox="1">
            <a:spLocks/>
          </p:cNvSpPr>
          <p:nvPr/>
        </p:nvSpPr>
        <p:spPr>
          <a:xfrm>
            <a:off x="602986" y="265728"/>
            <a:ext cx="10981137" cy="1325563"/>
          </a:xfrm>
          <a:prstGeom prst="rect">
            <a:avLst/>
          </a:prstGeom>
        </p:spPr>
        <p:txBody>
          <a:bodyPr anchor="b"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PERILAKU KONTRIBUTOR</a:t>
            </a:r>
          </a:p>
        </p:txBody>
      </p:sp>
    </p:spTree>
    <p:extLst>
      <p:ext uri="{BB962C8B-B14F-4D97-AF65-F5344CB8AC3E}">
        <p14:creationId xmlns:p14="http://schemas.microsoft.com/office/powerpoint/2010/main" val="1170632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4AA63-DD52-A69D-058A-BDD5C040E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B371F4-978B-BDEE-0276-01239C3650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8180"/>
            <a:ext cx="5400000" cy="26846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15B798-FBB7-A48B-0901-EFD98DCFF33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262838"/>
            <a:ext cx="5400000" cy="268465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1B8350-D0E9-F296-6827-D00AC39630C0}"/>
              </a:ext>
            </a:extLst>
          </p:cNvPr>
          <p:cNvSpPr txBox="1">
            <a:spLocks/>
          </p:cNvSpPr>
          <p:nvPr/>
        </p:nvSpPr>
        <p:spPr>
          <a:xfrm>
            <a:off x="602987" y="578180"/>
            <a:ext cx="5493014" cy="53568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Penggunaan</a:t>
            </a:r>
            <a:r>
              <a:rPr lang="en-US" sz="2400" dirty="0"/>
              <a:t> media </a:t>
            </a:r>
            <a:r>
              <a:rPr lang="en-US" sz="2400" dirty="0" err="1"/>
              <a:t>sosial</a:t>
            </a:r>
            <a:r>
              <a:rPr lang="en-US" sz="2400" dirty="0"/>
              <a:t> </a:t>
            </a:r>
            <a:r>
              <a:rPr lang="en-US" sz="2400" dirty="0" err="1"/>
              <a:t>terbanyak</a:t>
            </a:r>
            <a:r>
              <a:rPr lang="en-US" sz="2400" dirty="0"/>
              <a:t> pada 4.5-5.5 jam per </a:t>
            </a:r>
            <a:r>
              <a:rPr lang="en-US" sz="2400" dirty="0" err="1"/>
              <a:t>hari</a:t>
            </a:r>
            <a:endParaRPr lang="en-US" sz="2400" dirty="0"/>
          </a:p>
          <a:p>
            <a:r>
              <a:rPr lang="en-US" sz="2400" dirty="0" err="1"/>
              <a:t>Sebanyak</a:t>
            </a:r>
            <a:r>
              <a:rPr lang="en-US" sz="2400" dirty="0"/>
              <a:t> 64.3% </a:t>
            </a:r>
            <a:r>
              <a:rPr lang="en-US" sz="2400" dirty="0" err="1"/>
              <a:t>kontributor</a:t>
            </a:r>
            <a:r>
              <a:rPr lang="en-US" sz="2400" dirty="0"/>
              <a:t> </a:t>
            </a:r>
            <a:r>
              <a:rPr lang="en-US" sz="2400" dirty="0" err="1"/>
              <a:t>terdampak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akademik</a:t>
            </a:r>
            <a:endParaRPr lang="en-US" sz="2400" dirty="0"/>
          </a:p>
          <a:p>
            <a:r>
              <a:rPr lang="en-US" sz="2400" dirty="0"/>
              <a:t>Jam </a:t>
            </a:r>
            <a:r>
              <a:rPr lang="en-US" sz="2400" dirty="0" err="1"/>
              <a:t>tidur</a:t>
            </a:r>
            <a:r>
              <a:rPr lang="en-US" sz="2400" dirty="0"/>
              <a:t> </a:t>
            </a:r>
            <a:r>
              <a:rPr lang="en-US" sz="2400" dirty="0" err="1"/>
              <a:t>terbanyak</a:t>
            </a:r>
            <a:r>
              <a:rPr lang="en-US" sz="2400" dirty="0"/>
              <a:t> </a:t>
            </a:r>
            <a:r>
              <a:rPr lang="en-US" sz="2400" dirty="0" err="1"/>
              <a:t>masih</a:t>
            </a:r>
            <a:r>
              <a:rPr lang="en-US" sz="2400" dirty="0"/>
              <a:t> pada 7-8 jam per </a:t>
            </a:r>
            <a:r>
              <a:rPr lang="en-US" sz="2400" dirty="0" err="1"/>
              <a:t>hari</a:t>
            </a:r>
            <a:endParaRPr lang="en-US" sz="2400" dirty="0"/>
          </a:p>
          <a:p>
            <a:r>
              <a:rPr lang="en-US" sz="2400" dirty="0" err="1"/>
              <a:t>Deduksi</a:t>
            </a:r>
            <a:r>
              <a:rPr lang="en-US" sz="2400" dirty="0"/>
              <a:t>, </a:t>
            </a:r>
            <a:r>
              <a:rPr lang="en-US" sz="2400" dirty="0" err="1"/>
              <a:t>penggunaan</a:t>
            </a:r>
            <a:r>
              <a:rPr lang="en-US" sz="2400" dirty="0"/>
              <a:t> media </a:t>
            </a:r>
            <a:r>
              <a:rPr lang="en-US" sz="2400" dirty="0" err="1"/>
              <a:t>sosial</a:t>
            </a:r>
            <a:r>
              <a:rPr lang="en-US" sz="2400" dirty="0"/>
              <a:t> </a:t>
            </a:r>
            <a:r>
              <a:rPr lang="en-US" sz="2400" dirty="0" err="1"/>
              <a:t>mengurangi</a:t>
            </a:r>
            <a:r>
              <a:rPr lang="en-US" sz="2400" dirty="0"/>
              <a:t> </a:t>
            </a:r>
            <a:r>
              <a:rPr lang="en-US" sz="2400" dirty="0" err="1"/>
              <a:t>waktu</a:t>
            </a:r>
            <a:r>
              <a:rPr lang="en-US" sz="2400" dirty="0"/>
              <a:t> </a:t>
            </a:r>
            <a:r>
              <a:rPr lang="en-US" sz="2400" dirty="0" err="1"/>
              <a:t>belajar</a:t>
            </a:r>
            <a:r>
              <a:rPr lang="en-US" sz="2400" dirty="0"/>
              <a:t> </a:t>
            </a:r>
            <a:r>
              <a:rPr lang="en-US" sz="2400" dirty="0" err="1"/>
              <a:t>bukan</a:t>
            </a:r>
            <a:r>
              <a:rPr lang="en-US" sz="2400" dirty="0"/>
              <a:t> </a:t>
            </a:r>
            <a:r>
              <a:rPr lang="en-US" sz="2400" dirty="0" err="1"/>
              <a:t>waktu</a:t>
            </a:r>
            <a:r>
              <a:rPr lang="en-US" sz="2400" dirty="0"/>
              <a:t> </a:t>
            </a:r>
            <a:r>
              <a:rPr lang="en-US" sz="2400" dirty="0" err="1"/>
              <a:t>tidur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3549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D3F1BA-AF5B-9C43-B682-6A993FB02C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86" y="1591291"/>
            <a:ext cx="7772400" cy="386411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D850C31-BB04-45C3-DD96-03FAFB703438}"/>
              </a:ext>
            </a:extLst>
          </p:cNvPr>
          <p:cNvSpPr txBox="1">
            <a:spLocks/>
          </p:cNvSpPr>
          <p:nvPr/>
        </p:nvSpPr>
        <p:spPr>
          <a:xfrm>
            <a:off x="602986" y="265728"/>
            <a:ext cx="10981137" cy="1325563"/>
          </a:xfrm>
          <a:prstGeom prst="rect">
            <a:avLst/>
          </a:prstGeom>
        </p:spPr>
        <p:txBody>
          <a:bodyPr anchor="b"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Sebaran addicted score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02A55D4-D8AA-F6CB-FA4C-0D966185269D}"/>
              </a:ext>
            </a:extLst>
          </p:cNvPr>
          <p:cNvSpPr txBox="1">
            <a:spLocks/>
          </p:cNvSpPr>
          <p:nvPr/>
        </p:nvSpPr>
        <p:spPr>
          <a:xfrm>
            <a:off x="8375386" y="750568"/>
            <a:ext cx="3816614" cy="53568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Kontributor</a:t>
            </a:r>
            <a:r>
              <a:rPr lang="en-US" sz="2400" dirty="0"/>
              <a:t> </a:t>
            </a:r>
            <a:r>
              <a:rPr lang="en-US" sz="2400" dirty="0" err="1"/>
              <a:t>terbanyak</a:t>
            </a:r>
            <a:r>
              <a:rPr lang="en-US" sz="2400" dirty="0"/>
              <a:t> pada addicted score 7 dan 8</a:t>
            </a:r>
          </a:p>
          <a:p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umum</a:t>
            </a:r>
            <a:r>
              <a:rPr lang="en-US" sz="2400" dirty="0"/>
              <a:t> </a:t>
            </a:r>
            <a:r>
              <a:rPr lang="en-US" sz="2400" dirty="0" err="1"/>
              <a:t>kontributor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tingkat</a:t>
            </a:r>
            <a:r>
              <a:rPr lang="en-US" sz="2400" dirty="0"/>
              <a:t> </a:t>
            </a:r>
            <a:r>
              <a:rPr lang="en-US" sz="2400" dirty="0" err="1"/>
              <a:t>kencanduan</a:t>
            </a:r>
            <a:r>
              <a:rPr lang="en-US" sz="2400" dirty="0"/>
              <a:t> media </a:t>
            </a:r>
            <a:r>
              <a:rPr lang="en-US" sz="2400" dirty="0" err="1"/>
              <a:t>sosial</a:t>
            </a:r>
            <a:r>
              <a:rPr lang="en-US" sz="2400" dirty="0"/>
              <a:t> yang </a:t>
            </a:r>
            <a:r>
              <a:rPr lang="en-US" sz="2400" dirty="0" err="1"/>
              <a:t>tinggi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84454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1234B-1F90-F62E-5F82-568587750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71CB2D9-9907-1271-F5C7-3FD2F0453FCB}"/>
              </a:ext>
            </a:extLst>
          </p:cNvPr>
          <p:cNvSpPr txBox="1">
            <a:spLocks/>
          </p:cNvSpPr>
          <p:nvPr/>
        </p:nvSpPr>
        <p:spPr>
          <a:xfrm>
            <a:off x="602986" y="265728"/>
            <a:ext cx="10981137" cy="1325563"/>
          </a:xfrm>
          <a:prstGeom prst="rect">
            <a:avLst/>
          </a:prstGeom>
        </p:spPr>
        <p:txBody>
          <a:bodyPr anchor="b"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KORELASI VARIABEL DENGAN ADDICTED SCORE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E0A4D6-869A-D9E1-E3CC-1448CD72F2B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85" y="1634833"/>
            <a:ext cx="7772401" cy="332314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22EC088-0C2E-2C98-7132-E16FA9C66DBA}"/>
              </a:ext>
            </a:extLst>
          </p:cNvPr>
          <p:cNvSpPr txBox="1">
            <a:spLocks/>
          </p:cNvSpPr>
          <p:nvPr/>
        </p:nvSpPr>
        <p:spPr>
          <a:xfrm>
            <a:off x="8375386" y="750568"/>
            <a:ext cx="3816614" cy="53568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Variabel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korelasi</a:t>
            </a:r>
            <a:r>
              <a:rPr lang="en-US" sz="2400" dirty="0"/>
              <a:t> </a:t>
            </a:r>
            <a:r>
              <a:rPr lang="en-US" sz="2400" dirty="0" err="1"/>
              <a:t>tinggi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addicted score </a:t>
            </a:r>
            <a:r>
              <a:rPr lang="en-US" sz="2400" dirty="0" err="1"/>
              <a:t>adalah</a:t>
            </a:r>
            <a:r>
              <a:rPr lang="en-US" sz="2400" dirty="0"/>
              <a:t> conflicts, academic impact, usage hours dan sleep hours</a:t>
            </a:r>
          </a:p>
          <a:p>
            <a:r>
              <a:rPr lang="en-US" sz="2400" dirty="0" err="1"/>
              <a:t>Variabel</a:t>
            </a:r>
            <a:r>
              <a:rPr lang="en-US" sz="2400" dirty="0"/>
              <a:t> academic level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korelasi</a:t>
            </a:r>
            <a:r>
              <a:rPr lang="en-US" sz="2400" dirty="0"/>
              <a:t> </a:t>
            </a:r>
            <a:r>
              <a:rPr lang="en-US" sz="2400" dirty="0" err="1"/>
              <a:t>sekalipun</a:t>
            </a:r>
            <a:r>
              <a:rPr lang="en-US" sz="2400" dirty="0"/>
              <a:t> </a:t>
            </a:r>
            <a:r>
              <a:rPr lang="en-US" sz="2400" dirty="0" err="1"/>
              <a:t>kebanyakan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mahasiswa</a:t>
            </a:r>
            <a:r>
              <a:rPr lang="en-US" sz="2400" dirty="0"/>
              <a:t> S1 dan S2</a:t>
            </a:r>
          </a:p>
        </p:txBody>
      </p:sp>
    </p:spTree>
    <p:extLst>
      <p:ext uri="{BB962C8B-B14F-4D97-AF65-F5344CB8AC3E}">
        <p14:creationId xmlns:p14="http://schemas.microsoft.com/office/powerpoint/2010/main" val="637035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3C3BC-DA34-8ABF-3E58-697DB60F8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068774-93AD-57AA-AAE8-E076B5E57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8180"/>
            <a:ext cx="5400000" cy="26846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24452C-99D0-1D91-CEE1-4550B2E2F4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0" y="3262838"/>
            <a:ext cx="5400000" cy="26846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CEC8E6-B1AB-B45A-0654-F0DFFB69BE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262838"/>
            <a:ext cx="5400000" cy="268465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7F813C0-CFFA-3D38-88A3-9B6217925885}"/>
              </a:ext>
            </a:extLst>
          </p:cNvPr>
          <p:cNvSpPr txBox="1">
            <a:spLocks/>
          </p:cNvSpPr>
          <p:nvPr/>
        </p:nvSpPr>
        <p:spPr>
          <a:xfrm>
            <a:off x="602986" y="265728"/>
            <a:ext cx="10981137" cy="1325563"/>
          </a:xfrm>
          <a:prstGeom prst="rect">
            <a:avLst/>
          </a:prstGeom>
        </p:spPr>
        <p:txBody>
          <a:bodyPr anchor="b"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VARIABEL KORELASI POSITIF </a:t>
            </a:r>
          </a:p>
          <a:p>
            <a:r>
              <a:rPr lang="en-US" dirty="0"/>
              <a:t>TERHADAP ADDICTED SCORE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51CB785-6197-91BA-1E8F-C5ACFCDCC17A}"/>
              </a:ext>
            </a:extLst>
          </p:cNvPr>
          <p:cNvSpPr txBox="1">
            <a:spLocks/>
          </p:cNvSpPr>
          <p:nvPr/>
        </p:nvSpPr>
        <p:spPr>
          <a:xfrm>
            <a:off x="602986" y="1591291"/>
            <a:ext cx="5400000" cy="167154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Makin </a:t>
            </a:r>
            <a:r>
              <a:rPr lang="en-US" sz="2400" dirty="0" err="1"/>
              <a:t>tinggi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makin</a:t>
            </a:r>
            <a:r>
              <a:rPr lang="en-US" sz="2400" dirty="0"/>
              <a:t> </a:t>
            </a:r>
            <a:r>
              <a:rPr lang="en-US" sz="2400" dirty="0" err="1"/>
              <a:t>tinggi</a:t>
            </a:r>
            <a:r>
              <a:rPr lang="en-US" sz="2400" dirty="0"/>
              <a:t> addicted score</a:t>
            </a:r>
          </a:p>
        </p:txBody>
      </p:sp>
    </p:spTree>
    <p:extLst>
      <p:ext uri="{BB962C8B-B14F-4D97-AF65-F5344CB8AC3E}">
        <p14:creationId xmlns:p14="http://schemas.microsoft.com/office/powerpoint/2010/main" val="171077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F1C4E-DFCB-3F26-A845-7570B2CA4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FF6D9C-FC7B-F170-E550-20DF9376FA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44341"/>
            <a:ext cx="5400000" cy="268465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192EC96-DAEB-CA33-8E66-3C5BA79D9A2C}"/>
              </a:ext>
            </a:extLst>
          </p:cNvPr>
          <p:cNvSpPr txBox="1">
            <a:spLocks/>
          </p:cNvSpPr>
          <p:nvPr/>
        </p:nvSpPr>
        <p:spPr>
          <a:xfrm>
            <a:off x="602986" y="265728"/>
            <a:ext cx="10981137" cy="1325563"/>
          </a:xfrm>
          <a:prstGeom prst="rect">
            <a:avLst/>
          </a:prstGeom>
        </p:spPr>
        <p:txBody>
          <a:bodyPr anchor="b"/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VARIABEL KORELASI NEGATIF </a:t>
            </a:r>
          </a:p>
          <a:p>
            <a:r>
              <a:rPr lang="en-US" dirty="0"/>
              <a:t>TERHADAP ADDICTED SCORE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2BFBCE-E394-4C7C-D9F4-8A4F249253FD}"/>
              </a:ext>
            </a:extLst>
          </p:cNvPr>
          <p:cNvSpPr txBox="1">
            <a:spLocks/>
          </p:cNvSpPr>
          <p:nvPr/>
        </p:nvSpPr>
        <p:spPr>
          <a:xfrm>
            <a:off x="602986" y="1591291"/>
            <a:ext cx="5400000" cy="167154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Makin </a:t>
            </a:r>
            <a:r>
              <a:rPr lang="en-US" sz="2400" dirty="0" err="1"/>
              <a:t>rendah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makin</a:t>
            </a:r>
            <a:r>
              <a:rPr lang="en-US" sz="2400" dirty="0"/>
              <a:t> </a:t>
            </a:r>
            <a:r>
              <a:rPr lang="en-US" sz="2400" dirty="0" err="1"/>
              <a:t>tinggi</a:t>
            </a:r>
            <a:r>
              <a:rPr lang="en-US" sz="2400" dirty="0"/>
              <a:t> addicted score</a:t>
            </a:r>
          </a:p>
        </p:txBody>
      </p:sp>
    </p:spTree>
    <p:extLst>
      <p:ext uri="{BB962C8B-B14F-4D97-AF65-F5344CB8AC3E}">
        <p14:creationId xmlns:p14="http://schemas.microsoft.com/office/powerpoint/2010/main" val="4240894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03C8A-7273-4E19-CF24-603644E7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kesimpulan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B2DE8-E8CB-194A-B0D6-EBFFF03ED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5"/>
            <a:ext cx="8990722" cy="2986564"/>
          </a:xfrm>
        </p:spPr>
        <p:txBody>
          <a:bodyPr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 err="1"/>
              <a:t>Konflik</a:t>
            </a:r>
            <a:r>
              <a:rPr lang="en-US" sz="2000" dirty="0"/>
              <a:t> di media </a:t>
            </a:r>
            <a:r>
              <a:rPr lang="en-US" sz="2000" dirty="0" err="1"/>
              <a:t>sosial</a:t>
            </a:r>
            <a:r>
              <a:rPr lang="en-US" sz="2000" dirty="0"/>
              <a:t> dan screen time </a:t>
            </a:r>
            <a:r>
              <a:rPr lang="en-US" sz="2000" dirty="0" err="1"/>
              <a:t>menjadi</a:t>
            </a:r>
            <a:r>
              <a:rPr lang="en-US" sz="2000" dirty="0"/>
              <a:t> </a:t>
            </a:r>
            <a:r>
              <a:rPr lang="en-US" sz="2000" dirty="0" err="1"/>
              <a:t>penanda</a:t>
            </a:r>
            <a:r>
              <a:rPr lang="en-US" sz="2000" dirty="0"/>
              <a:t> </a:t>
            </a:r>
            <a:r>
              <a:rPr lang="en-US" sz="2000" dirty="0" err="1"/>
              <a:t>dasar</a:t>
            </a:r>
            <a:r>
              <a:rPr lang="en-US" sz="2000" dirty="0"/>
              <a:t> </a:t>
            </a:r>
            <a:r>
              <a:rPr lang="en-US" sz="2000" dirty="0" err="1"/>
              <a:t>kecanduan</a:t>
            </a:r>
            <a:r>
              <a:rPr lang="en-US" sz="2000" dirty="0"/>
              <a:t> media </a:t>
            </a:r>
            <a:r>
              <a:rPr lang="en-US" sz="2000" dirty="0" err="1"/>
              <a:t>sosial</a:t>
            </a:r>
            <a:endParaRPr lang="en-US" sz="20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 err="1"/>
              <a:t>Pelajar</a:t>
            </a:r>
            <a:r>
              <a:rPr lang="en-US" sz="2000" dirty="0"/>
              <a:t>/</a:t>
            </a:r>
            <a:r>
              <a:rPr lang="en-US" sz="2000" dirty="0" err="1"/>
              <a:t>mahasiswa</a:t>
            </a:r>
            <a:r>
              <a:rPr lang="en-US" sz="2000" dirty="0"/>
              <a:t> </a:t>
            </a:r>
            <a:r>
              <a:rPr lang="en-US" sz="2000" dirty="0" err="1"/>
              <a:t>kebanyakan</a:t>
            </a:r>
            <a:r>
              <a:rPr lang="en-US" sz="2000" dirty="0"/>
              <a:t> </a:t>
            </a:r>
            <a:r>
              <a:rPr lang="en-US" sz="2000" dirty="0" err="1"/>
              <a:t>memilih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mengurangi</a:t>
            </a:r>
            <a:r>
              <a:rPr lang="en-US" sz="2000" dirty="0"/>
              <a:t> </a:t>
            </a:r>
            <a:r>
              <a:rPr lang="en-US" sz="2000" dirty="0" err="1"/>
              <a:t>waktu</a:t>
            </a:r>
            <a:r>
              <a:rPr lang="en-US" sz="2000" dirty="0"/>
              <a:t> </a:t>
            </a:r>
            <a:r>
              <a:rPr lang="en-US" sz="2000" dirty="0" err="1"/>
              <a:t>belajar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konsumsi</a:t>
            </a:r>
            <a:r>
              <a:rPr lang="en-US" sz="2000" dirty="0"/>
              <a:t> media </a:t>
            </a:r>
            <a:r>
              <a:rPr lang="en-US" sz="2000" dirty="0" err="1"/>
              <a:t>sosial</a:t>
            </a:r>
            <a:endParaRPr lang="en-US" sz="20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2000" dirty="0" err="1"/>
              <a:t>Berdampak</a:t>
            </a:r>
            <a:r>
              <a:rPr lang="en-US" sz="2000" dirty="0"/>
              <a:t> pada </a:t>
            </a:r>
            <a:r>
              <a:rPr lang="en-US" sz="2000" dirty="0" err="1"/>
              <a:t>prestasi</a:t>
            </a:r>
            <a:r>
              <a:rPr lang="en-US" sz="2000" dirty="0"/>
              <a:t> yang </a:t>
            </a:r>
            <a:r>
              <a:rPr lang="en-US" sz="2000" dirty="0" err="1"/>
              <a:t>menurun</a:t>
            </a:r>
            <a:endParaRPr lang="en-US" sz="20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/>
              <a:t>Jika </a:t>
            </a:r>
            <a:r>
              <a:rPr lang="en-US" sz="2000" dirty="0" err="1"/>
              <a:t>pelajar</a:t>
            </a:r>
            <a:r>
              <a:rPr lang="en-US" sz="2000" dirty="0"/>
              <a:t>/</a:t>
            </a:r>
            <a:r>
              <a:rPr lang="en-US" sz="2000" dirty="0" err="1"/>
              <a:t>mahasiswa</a:t>
            </a:r>
            <a:r>
              <a:rPr lang="en-US" sz="2000" dirty="0"/>
              <a:t> </a:t>
            </a:r>
            <a:r>
              <a:rPr lang="en-US" sz="2000" dirty="0" err="1"/>
              <a:t>sampai</a:t>
            </a:r>
            <a:r>
              <a:rPr lang="en-US" sz="2000" dirty="0"/>
              <a:t> </a:t>
            </a:r>
            <a:r>
              <a:rPr lang="en-US" sz="2000" dirty="0" err="1"/>
              <a:t>mengurangi</a:t>
            </a:r>
            <a:r>
              <a:rPr lang="en-US" sz="2000" dirty="0"/>
              <a:t> </a:t>
            </a:r>
            <a:r>
              <a:rPr lang="en-US" sz="2000" dirty="0" err="1"/>
              <a:t>waktu</a:t>
            </a:r>
            <a:r>
              <a:rPr lang="en-US" sz="2000" dirty="0"/>
              <a:t> </a:t>
            </a:r>
            <a:r>
              <a:rPr lang="en-US" sz="2000" dirty="0" err="1"/>
              <a:t>tidur</a:t>
            </a:r>
            <a:r>
              <a:rPr lang="en-US" sz="2000" dirty="0"/>
              <a:t>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tingkat</a:t>
            </a:r>
            <a:r>
              <a:rPr lang="en-US" sz="2000" dirty="0"/>
              <a:t> </a:t>
            </a:r>
            <a:r>
              <a:rPr lang="en-US" sz="2000" dirty="0" err="1"/>
              <a:t>kecanduan</a:t>
            </a:r>
            <a:r>
              <a:rPr lang="en-US" sz="2000" dirty="0"/>
              <a:t> </a:t>
            </a:r>
            <a:r>
              <a:rPr lang="en-US" sz="2000" dirty="0" err="1"/>
              <a:t>tinggi</a:t>
            </a:r>
            <a:endParaRPr lang="en-US" sz="20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000" dirty="0"/>
              <a:t>Tingkat </a:t>
            </a:r>
            <a:r>
              <a:rPr lang="en-US" sz="2000" dirty="0" err="1"/>
              <a:t>pendidikan</a:t>
            </a:r>
            <a:r>
              <a:rPr lang="en-US" sz="2000" dirty="0"/>
              <a:t> </a:t>
            </a:r>
            <a:r>
              <a:rPr lang="en-US" sz="2000" dirty="0" err="1"/>
              <a:t>ternyata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berpengaruh</a:t>
            </a:r>
            <a:r>
              <a:rPr lang="en-US" sz="2000" dirty="0"/>
              <a:t> </a:t>
            </a:r>
            <a:r>
              <a:rPr lang="en-US" sz="2000" dirty="0" err="1"/>
              <a:t>terhadap</a:t>
            </a:r>
            <a:r>
              <a:rPr lang="en-US" sz="2000" dirty="0"/>
              <a:t> </a:t>
            </a:r>
            <a:r>
              <a:rPr lang="en-US" sz="2000" dirty="0" err="1"/>
              <a:t>kecanduan</a:t>
            </a:r>
            <a:r>
              <a:rPr lang="en-US" sz="2000" dirty="0"/>
              <a:t> media </a:t>
            </a:r>
            <a:r>
              <a:rPr lang="en-US" sz="2000" dirty="0" err="1"/>
              <a:t>sosial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366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6DD8D-A400-2ECC-B4E2-5E22E22B2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BACBD-9E5D-9BB0-9C64-74B799F29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Keterangan</a:t>
            </a:r>
            <a:r>
              <a:rPr lang="en-US" dirty="0"/>
              <a:t> </a:t>
            </a:r>
            <a:r>
              <a:rPr lang="en-US" dirty="0" err="1"/>
              <a:t>teknikal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7336B-15CA-2C83-465B-8D09A9AA8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i="1" dirty="0"/>
              <a:t>Chart </a:t>
            </a:r>
            <a:r>
              <a:rPr lang="en-US" sz="2000" dirty="0"/>
              <a:t>yang </a:t>
            </a:r>
            <a:r>
              <a:rPr lang="en-US" sz="2000" dirty="0" err="1"/>
              <a:t>menjelaskan</a:t>
            </a:r>
            <a:r>
              <a:rPr lang="en-US" sz="2000" dirty="0"/>
              <a:t> </a:t>
            </a:r>
            <a:r>
              <a:rPr lang="en-US" sz="2000" dirty="0" err="1"/>
              <a:t>distribusi</a:t>
            </a:r>
            <a:r>
              <a:rPr lang="en-US" sz="2000" dirty="0"/>
              <a:t> </a:t>
            </a:r>
            <a:r>
              <a:rPr lang="en-US" sz="2000" dirty="0" err="1"/>
              <a:t>tiap</a:t>
            </a:r>
            <a:r>
              <a:rPr lang="en-US" sz="2000" dirty="0"/>
              <a:t> </a:t>
            </a:r>
            <a:r>
              <a:rPr lang="en-US" sz="2000" dirty="0" err="1"/>
              <a:t>variabel</a:t>
            </a:r>
            <a:r>
              <a:rPr lang="en-US" sz="2000" dirty="0"/>
              <a:t> </a:t>
            </a:r>
            <a:r>
              <a:rPr lang="en-US" sz="2000" dirty="0" err="1"/>
              <a:t>dibangun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i="1" dirty="0"/>
              <a:t>bar chart</a:t>
            </a:r>
          </a:p>
          <a:p>
            <a:r>
              <a:rPr lang="en-US" sz="2000" dirty="0" err="1"/>
              <a:t>Beberapa</a:t>
            </a:r>
            <a:r>
              <a:rPr lang="en-US" sz="2000" dirty="0"/>
              <a:t> </a:t>
            </a:r>
            <a:r>
              <a:rPr lang="en-US" sz="2000" dirty="0" err="1"/>
              <a:t>kolom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data </a:t>
            </a:r>
            <a:r>
              <a:rPr lang="en-US" sz="2000" dirty="0" err="1"/>
              <a:t>kategorikal</a:t>
            </a:r>
            <a:r>
              <a:rPr lang="en-US" sz="2000" dirty="0"/>
              <a:t> </a:t>
            </a:r>
            <a:r>
              <a:rPr lang="en-US" sz="2000" dirty="0" err="1"/>
              <a:t>memiliki</a:t>
            </a:r>
            <a:r>
              <a:rPr lang="en-US" sz="2000" dirty="0"/>
              <a:t> </a:t>
            </a:r>
            <a:r>
              <a:rPr lang="en-US" sz="2000" dirty="0" err="1"/>
              <a:t>variasi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yang </a:t>
            </a:r>
            <a:r>
              <a:rPr lang="en-US" sz="2000" dirty="0" err="1"/>
              <a:t>terlalu</a:t>
            </a:r>
            <a:r>
              <a:rPr lang="en-US" sz="2000" dirty="0"/>
              <a:t> </a:t>
            </a:r>
            <a:r>
              <a:rPr lang="en-US" sz="2000" dirty="0" err="1"/>
              <a:t>banyak</a:t>
            </a:r>
            <a:r>
              <a:rPr lang="en-US" sz="2000" dirty="0"/>
              <a:t>.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kolom</a:t>
            </a:r>
            <a:r>
              <a:rPr lang="en-US" sz="2000" dirty="0"/>
              <a:t> </a:t>
            </a:r>
            <a:r>
              <a:rPr lang="en-US" sz="2000" dirty="0" err="1"/>
              <a:t>seperti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diambil</a:t>
            </a:r>
            <a:r>
              <a:rPr lang="en-US" sz="2000" dirty="0"/>
              <a:t> </a:t>
            </a:r>
            <a:r>
              <a:rPr lang="en-US" sz="2000" dirty="0" err="1"/>
              <a:t>kolom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n data </a:t>
            </a:r>
            <a:r>
              <a:rPr lang="en-US" sz="2000" dirty="0" err="1"/>
              <a:t>tertinggi</a:t>
            </a:r>
            <a:r>
              <a:rPr lang="en-US" sz="2000" dirty="0"/>
              <a:t> </a:t>
            </a:r>
            <a:r>
              <a:rPr lang="en-US" sz="2000" dirty="0" err="1"/>
              <a:t>dimunculkan</a:t>
            </a:r>
            <a:r>
              <a:rPr lang="en-US" sz="2000" dirty="0"/>
              <a:t>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individu</a:t>
            </a:r>
            <a:r>
              <a:rPr lang="en-US" sz="2000" dirty="0"/>
              <a:t> </a:t>
            </a:r>
            <a:r>
              <a:rPr lang="en-US" sz="2000" dirty="0" err="1"/>
              <a:t>lalu</a:t>
            </a:r>
            <a:r>
              <a:rPr lang="en-US" sz="2000" dirty="0"/>
              <a:t> </a:t>
            </a:r>
            <a:r>
              <a:rPr lang="en-US" sz="2000" dirty="0" err="1"/>
              <a:t>kolom</a:t>
            </a:r>
            <a:r>
              <a:rPr lang="en-US" sz="2000" dirty="0"/>
              <a:t> lain </a:t>
            </a:r>
            <a:r>
              <a:rPr lang="en-US" sz="2000" dirty="0" err="1"/>
              <a:t>dijadikan</a:t>
            </a:r>
            <a:r>
              <a:rPr lang="en-US" sz="2000" dirty="0"/>
              <a:t> </a:t>
            </a:r>
            <a:r>
              <a:rPr lang="en-US" sz="2000" dirty="0" err="1"/>
              <a:t>satu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 Other</a:t>
            </a:r>
          </a:p>
          <a:p>
            <a:pPr lvl="1"/>
            <a:r>
              <a:rPr lang="en-US" sz="2000" dirty="0"/>
              <a:t>Country, </a:t>
            </a:r>
            <a:r>
              <a:rPr lang="en-US" sz="2000" dirty="0" err="1"/>
              <a:t>diambil</a:t>
            </a:r>
            <a:r>
              <a:rPr lang="en-US" sz="2000" dirty="0"/>
              <a:t> 9 data </a:t>
            </a:r>
            <a:r>
              <a:rPr lang="en-US" sz="2000" dirty="0" err="1"/>
              <a:t>tertinggi</a:t>
            </a:r>
            <a:endParaRPr lang="en-US" sz="2000" dirty="0"/>
          </a:p>
          <a:p>
            <a:pPr lvl="1"/>
            <a:r>
              <a:rPr lang="en-US" sz="2000" dirty="0"/>
              <a:t>Platform, </a:t>
            </a:r>
            <a:r>
              <a:rPr lang="en-US" sz="2000" dirty="0" err="1"/>
              <a:t>diambil</a:t>
            </a:r>
            <a:r>
              <a:rPr lang="en-US" sz="2000" dirty="0"/>
              <a:t> 4 data </a:t>
            </a:r>
            <a:r>
              <a:rPr lang="en-US" sz="2000" dirty="0" err="1"/>
              <a:t>tertinggi</a:t>
            </a:r>
            <a:endParaRPr lang="en-US" sz="2000" dirty="0"/>
          </a:p>
          <a:p>
            <a:r>
              <a:rPr lang="en-US" sz="2000" dirty="0"/>
              <a:t>Kolom </a:t>
            </a:r>
            <a:r>
              <a:rPr lang="en-US" sz="2000" dirty="0" err="1"/>
              <a:t>dengan</a:t>
            </a:r>
            <a:r>
              <a:rPr lang="en-US" sz="2000" dirty="0"/>
              <a:t> data </a:t>
            </a:r>
            <a:r>
              <a:rPr lang="en-US" sz="2000" dirty="0" err="1"/>
              <a:t>kontinu</a:t>
            </a:r>
            <a:r>
              <a:rPr lang="en-US" sz="2000" dirty="0"/>
              <a:t> </a:t>
            </a:r>
            <a:r>
              <a:rPr lang="en-US" sz="2000" dirty="0" err="1"/>
              <a:t>dikelompokkan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i="1" dirty="0"/>
              <a:t>range</a:t>
            </a:r>
            <a:r>
              <a:rPr lang="en-US" sz="2000" dirty="0"/>
              <a:t> 1</a:t>
            </a:r>
          </a:p>
          <a:p>
            <a:pPr lvl="1"/>
            <a:r>
              <a:rPr lang="en-US" sz="2000" dirty="0"/>
              <a:t>Daily usage, 1.5-2.5, 2.5-3.5, ...., 7.5-...</a:t>
            </a:r>
          </a:p>
          <a:p>
            <a:pPr lvl="1"/>
            <a:r>
              <a:rPr lang="en-US" sz="2000" dirty="0"/>
              <a:t>Sleep hours, 3-4, 4-5, ...., 9-...</a:t>
            </a:r>
          </a:p>
        </p:txBody>
      </p:sp>
    </p:spTree>
    <p:extLst>
      <p:ext uri="{BB962C8B-B14F-4D97-AF65-F5344CB8AC3E}">
        <p14:creationId xmlns:p14="http://schemas.microsoft.com/office/powerpoint/2010/main" val="2224766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80B6-6CFC-8EDD-153C-047C0B29D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Keterangan</a:t>
            </a:r>
            <a:r>
              <a:rPr lang="en-US" dirty="0"/>
              <a:t> </a:t>
            </a:r>
            <a:r>
              <a:rPr lang="en-US" dirty="0" err="1"/>
              <a:t>teknikal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8280E-03C3-BB02-75D5-0520761A5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Chart yang </a:t>
            </a:r>
            <a:r>
              <a:rPr lang="en-US" sz="2000" dirty="0" err="1"/>
              <a:t>menjelaskan</a:t>
            </a:r>
            <a:r>
              <a:rPr lang="en-US" sz="2000" dirty="0"/>
              <a:t> </a:t>
            </a:r>
            <a:r>
              <a:rPr lang="en-US" sz="2000" dirty="0" err="1"/>
              <a:t>korelasi</a:t>
            </a:r>
            <a:r>
              <a:rPr lang="en-US" sz="2000" dirty="0"/>
              <a:t> </a:t>
            </a:r>
            <a:r>
              <a:rPr lang="en-US" sz="2000" dirty="0" err="1"/>
              <a:t>semua</a:t>
            </a:r>
            <a:r>
              <a:rPr lang="en-US" sz="2000" dirty="0"/>
              <a:t> feature / </a:t>
            </a:r>
            <a:r>
              <a:rPr lang="en-US" sz="2000" dirty="0" err="1"/>
              <a:t>kolom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target (addicted score) </a:t>
            </a:r>
            <a:r>
              <a:rPr lang="en-US" sz="2000" dirty="0" err="1"/>
              <a:t>dibuat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stacked bar chart</a:t>
            </a:r>
          </a:p>
          <a:p>
            <a:pPr lvl="1"/>
            <a:r>
              <a:rPr lang="en-US" sz="2000" dirty="0" err="1"/>
              <a:t>Korelasi</a:t>
            </a:r>
            <a:r>
              <a:rPr lang="en-US" sz="2000" dirty="0"/>
              <a:t> </a:t>
            </a:r>
            <a:r>
              <a:rPr lang="en-US" sz="2000" dirty="0" err="1"/>
              <a:t>positif</a:t>
            </a:r>
            <a:r>
              <a:rPr lang="en-US" sz="2000" dirty="0"/>
              <a:t> </a:t>
            </a:r>
            <a:r>
              <a:rPr lang="en-US" sz="2000" dirty="0" err="1"/>
              <a:t>dianggap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1 </a:t>
            </a:r>
            <a:r>
              <a:rPr lang="en-US" sz="2000" dirty="0" err="1"/>
              <a:t>nilai</a:t>
            </a:r>
            <a:r>
              <a:rPr lang="en-US" sz="2000" dirty="0"/>
              <a:t> dan </a:t>
            </a:r>
            <a:r>
              <a:rPr lang="en-US" sz="2000" dirty="0" err="1"/>
              <a:t>korelasi</a:t>
            </a:r>
            <a:r>
              <a:rPr lang="en-US" sz="2000" dirty="0"/>
              <a:t> </a:t>
            </a:r>
            <a:r>
              <a:rPr lang="en-US" sz="2000" dirty="0" err="1"/>
              <a:t>negatif</a:t>
            </a:r>
            <a:r>
              <a:rPr lang="en-US" sz="2000" dirty="0"/>
              <a:t> </a:t>
            </a:r>
            <a:r>
              <a:rPr lang="en-US" sz="2000" dirty="0" err="1"/>
              <a:t>dianggap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1 </a:t>
            </a:r>
            <a:r>
              <a:rPr lang="en-US" sz="2000" dirty="0" err="1"/>
              <a:t>nilai</a:t>
            </a:r>
            <a:endParaRPr lang="en-US" sz="2000" dirty="0"/>
          </a:p>
          <a:p>
            <a:pPr lvl="1"/>
            <a:r>
              <a:rPr lang="en-US" sz="2000" dirty="0"/>
              <a:t>Misal academic level </a:t>
            </a:r>
            <a:r>
              <a:rPr lang="en-US" sz="2000" dirty="0" err="1"/>
              <a:t>memiliki</a:t>
            </a:r>
            <a:r>
              <a:rPr lang="en-US" sz="2000" dirty="0"/>
              <a:t> </a:t>
            </a:r>
            <a:r>
              <a:rPr lang="en-US" sz="2000" dirty="0" err="1"/>
              <a:t>korelasi</a:t>
            </a:r>
            <a:r>
              <a:rPr lang="en-US" sz="2000" dirty="0"/>
              <a:t> 0.075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dibentuk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 0.075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dirty="0" err="1"/>
              <a:t>positif</a:t>
            </a:r>
            <a:r>
              <a:rPr lang="en-US" sz="2000" dirty="0"/>
              <a:t> dan 0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dirty="0" err="1"/>
              <a:t>negatif</a:t>
            </a:r>
            <a:endParaRPr lang="en-US" sz="2000" dirty="0"/>
          </a:p>
          <a:p>
            <a:r>
              <a:rPr lang="en-US" sz="2000" dirty="0"/>
              <a:t>Chart yang </a:t>
            </a:r>
            <a:r>
              <a:rPr lang="en-US" sz="2000" dirty="0" err="1"/>
              <a:t>menjelaskan</a:t>
            </a:r>
            <a:r>
              <a:rPr lang="en-US" sz="2000" dirty="0"/>
              <a:t> </a:t>
            </a:r>
            <a:r>
              <a:rPr lang="en-US" sz="2000" dirty="0" err="1"/>
              <a:t>korelasi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feature / </a:t>
            </a:r>
            <a:r>
              <a:rPr lang="en-US" sz="2000" dirty="0" err="1"/>
              <a:t>kolom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target (addicted score) </a:t>
            </a:r>
            <a:r>
              <a:rPr lang="en-US" sz="2000" dirty="0" err="1"/>
              <a:t>dibuat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scattered chart</a:t>
            </a:r>
          </a:p>
        </p:txBody>
      </p:sp>
    </p:spTree>
    <p:extLst>
      <p:ext uri="{BB962C8B-B14F-4D97-AF65-F5344CB8AC3E}">
        <p14:creationId xmlns:p14="http://schemas.microsoft.com/office/powerpoint/2010/main" val="675805046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183</TotalTime>
  <Words>513</Words>
  <Application>Microsoft Macintosh PowerPoint</Application>
  <PresentationFormat>Widescreen</PresentationFormat>
  <Paragraphs>58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Oswald SemiBold</vt:lpstr>
      <vt:lpstr>Univers Condensed Light</vt:lpstr>
      <vt:lpstr>Orange Experience</vt:lpstr>
      <vt:lpstr>STUDENT SOCIAL MEDIA ADDICTION</vt:lpstr>
      <vt:lpstr>Pendahuluan</vt:lpstr>
      <vt:lpstr>Data</vt:lpstr>
      <vt:lpstr>Bentuk analisa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kesimpulan</vt:lpstr>
      <vt:lpstr>Keterangan teknikal</vt:lpstr>
      <vt:lpstr>Keterangan teknikal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Utomo</dc:creator>
  <cp:lastModifiedBy>Victor Utomo</cp:lastModifiedBy>
  <cp:revision>28</cp:revision>
  <dcterms:created xsi:type="dcterms:W3CDTF">2026-10-13T03:19:27Z</dcterms:created>
  <dcterms:modified xsi:type="dcterms:W3CDTF">2026-10-13T06:23:20Z</dcterms:modified>
</cp:coreProperties>
</file>